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751" autoAdjust="0"/>
  </p:normalViewPr>
  <p:slideViewPr>
    <p:cSldViewPr snapToGrid="0" snapToObjects="1">
      <p:cViewPr varScale="1">
        <p:scale>
          <a:sx n="30" d="100"/>
          <a:sy n="30" d="100"/>
        </p:scale>
        <p:origin x="77" y="898"/>
      </p:cViewPr>
      <p:guideLst/>
    </p:cSldViewPr>
  </p:slideViewPr>
  <p:notesTextViewPr>
    <p:cViewPr>
      <p:scale>
        <a:sx n="1" d="1"/>
        <a:sy n="1" d="1"/>
      </p:scale>
      <p:origin x="0" y="-365"/>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4436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Bonjour, nous sommes l'équipe [noms]. Aujourd'hui, dans le cadre de notre PFA à l'ENIAD, nous allons vous présenter le volet DevOps de notre plateforme décisionnelle. Notre objectif était simple mais ambitieux : passer du code à un déploiement complet — en une seule commande. Concrètement, comment GitHub, les images Docker, les volumes et les réseaux nous ont permis de faire tenir debout une plateforme à 5 services, développée par 3 personnes.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rappel, et </a:t>
            </a:r>
            <a:r>
              <a:rPr lang="en-US" dirty="0" err="1"/>
              <a:t>avant</a:t>
            </a:r>
            <a:r>
              <a:rPr lang="en-US" dirty="0"/>
              <a:t> </a:t>
            </a:r>
            <a:r>
              <a:rPr lang="fr-FR" dirty="0"/>
              <a:t>de parler DevOps, un peu de contexte. Notre projet est une plateforme de Business Intelligence pour suivre la performance des étudiants en temps réel, avec de la prédiction de risque d'échec. Techniquement, elle repose sur 5 services : un backend en ASP.NET </a:t>
            </a:r>
            <a:r>
              <a:rPr lang="fr-FR" dirty="0" err="1"/>
              <a:t>Core</a:t>
            </a:r>
            <a:r>
              <a:rPr lang="fr-FR" dirty="0"/>
              <a:t> 8 avec une API REST sécurisée par JWT, un service de Machine Learning en </a:t>
            </a:r>
            <a:r>
              <a:rPr lang="fr-FR" dirty="0" err="1"/>
              <a:t>FastAPI</a:t>
            </a:r>
            <a:r>
              <a:rPr lang="fr-FR" dirty="0"/>
              <a:t> avec </a:t>
            </a:r>
            <a:r>
              <a:rPr lang="fr-FR" dirty="0" err="1"/>
              <a:t>scikit-learn</a:t>
            </a:r>
            <a:r>
              <a:rPr lang="fr-FR" dirty="0"/>
              <a:t> et </a:t>
            </a:r>
            <a:r>
              <a:rPr lang="fr-FR" dirty="0" err="1"/>
              <a:t>XGBoost</a:t>
            </a:r>
            <a:r>
              <a:rPr lang="fr-FR" dirty="0"/>
              <a:t>, une base de données SQL Server avec un data </a:t>
            </a:r>
            <a:r>
              <a:rPr lang="fr-FR" dirty="0" err="1"/>
              <a:t>warehouse</a:t>
            </a:r>
            <a:r>
              <a:rPr lang="fr-FR" dirty="0"/>
              <a:t>, un frontend en </a:t>
            </a:r>
            <a:r>
              <a:rPr lang="fr-FR" dirty="0" err="1"/>
              <a:t>React</a:t>
            </a:r>
            <a:r>
              <a:rPr lang="fr-FR" dirty="0"/>
              <a:t>/</a:t>
            </a:r>
            <a:r>
              <a:rPr lang="fr-FR" dirty="0" err="1"/>
              <a:t>TypeScript</a:t>
            </a:r>
            <a:r>
              <a:rPr lang="fr-FR" dirty="0"/>
              <a:t>, et Nginx comme reverse proxy qui gère le TLS et le routage. C'est cette complexité qui rend DevOps indispensable.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Pourquoi DevOps ? Parce que sans lui, coordonner 5 services dans 3 langages différents entre 3 développeurs aurait été un cauchemar. Grâce à Docker Compose, on démarre tout le projet avec une seule commande : docker compose up. Zéro installation manuelle — tout est packagé dans les images. À chaque push de code, 3 jobs de tests s'exécutent automatiquement : un pour le backend, un pour le ML, un pour le frontend. Et pour la sécurité, on a 3 réseaux Docker isolés qui protègent les données sensibles. DevOps, c'est ce qui nous a permis de travailler en parallèle sans chaos.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Notre présentation s'articule autour de 4 briques DevOps que nous avons concrètement appliquées dans notre projet. D'abord GitHub pour le versioning et la collaboration — une seule source de vérité pour tout le code. Ensuite les Images Docker pour conteneuriser chaque service — l'environnement devient un simple fichier texte. Puis les Volumes pour persister les données — la base et les modèles ML survivent aux redémarrages. Et enfin les Networks pour isoler les services — la base de données et le service ML sont invisibles depuis l'extérieur, par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vant</a:t>
            </a:r>
            <a:r>
              <a:rPr lang="fr-FR" dirty="0"/>
              <a:t> de rentrer dans le détail de chaque brique, voici la vue d'ensemble. Notre architecture Docker repose sur 5 conteneurs — </a:t>
            </a:r>
            <a:r>
              <a:rPr lang="fr-FR" dirty="0" err="1"/>
              <a:t>nginx</a:t>
            </a:r>
            <a:r>
              <a:rPr lang="fr-FR" dirty="0"/>
              <a:t>, frontend, backend, la base SQL Server et le service ML. Ils sont connectés via 3 réseaux distincts qui définissent qui peut parler à qui. Et 2 volumes persistants garantissent que les données critiques ne sont jamais perdues. </a:t>
            </a:r>
            <a:r>
              <a:rPr lang="fr-FR"/>
              <a:t>Tout ce que vous allez voir dans les 4 étapes suivantes contribue à faire fonctionner cette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 GitHub. Tout le code vit dans un seul repository. Chaque membre de l'équipe travaille sur sa branche, on ouvre des Pull Requests, on review le code, et on merge sur main. Ça nous donne un historique complet, et n'importe qui peut revenir en arrière si quelque chose casse.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voici comment on travaille à trois. Marouane, Anouar et notre coéquipier travaillent chacun sur des features séparées — backend, alertes, exports — chacun sur sa branche. Quand une feature est prête, on ouvre une PR, l'autre relit, et on merge. main reste toujours stable, prêt à être déployé.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Actions, c'est la partie automatique. À chaque push ou PR, GitHub lance automatiquement trois jobs en parallèle : il compile et teste le backend .NET, il lance pytest sur le service ML, et il build le frontend TypeScript. Si un test casse, on le voit immédiatement — avant même de merger.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 les Images Docker. Une image, c'est une recette qui décrit comment construire un environnement complet : l'OS de base, les dépendances, le code, et la commande de démarrage. On a écrit un Dockerfile pour chaque service — backend, ML, frontend, et même la base de données.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simplifié de notre Dockerfile backend. On utilise un build multi-stage : d'abord on compile l'application .NET dans une image lourde avec le SDK, puis on copie juste le binaire compilé dans une image runtime légère. Résultat : l'image finale est petite et ne contient pas le code source ni les outils de build.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 les Volumes. Le problème, c'est qu'un conteneur est éphémère — si on le supprime, tout ce qu'il contient disparaît. Or, on ne veut surtout pas perdre la base de données ! Le volume Docker, c'est un espace de stockage qui survit aux redémarrages et aux recréations de conteneurs.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notre projet, on utilise deux volumes nommés. Le premier, sqlserver_data, stocke les fichiers de la base SQL Server — sans lui, on perdrait toutes les données étudiants à chaque restart. Le deuxième, ml_models_data, garde les modèles ML entraînés ; sinon il faudrait re-entraîner les modèles à chaque démarrage du service.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étape : les Networks Docker. Par défaut, tous les conteneurs peuvent se parler — c'est dangereux. Avec les networks, on contrôle exactement qui parle à qui. Et avec l'option internal, on rend un réseau totalement isolé du monde extérieur.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on a créé trois réseaux. Le réseau public connecte Nginx, le frontend et le backend — c'est le seul accessible depuis Internet. Le réseau interne DB ne connecte que le backend et la base. Le réseau interne ML ne connecte que le backend et le service ML. Résultat : impossible d'attaquer directement la base ou le service ML depuis Internet, même si on connaissait son IP.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ces briques sont décrites dans un seul fichier : docker-compose.yml. Une commande, docker compose up, et toute la stack démarre dans le bon ordre — la base d'abord, puis le ML, puis le backend, puis le frontend, puis Nginx. C'est ce qui rend le projet reproductible sur n'importe quelle machine.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résumer le cycle complet : un développeur push son code sur GitHub. GitHub Actions teste automatiquement. Si tout passe, on merge sur main. Sur le serveur, un git pull et un docker compose up reconstruit les images et redémarre les services. Du commit au déploiement, c'est cinq minutes.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bilan : avec ces quatre pratiques DevOps — GitHub, Images, Volumes, Networks — on a transformé un projet à cinq services en quelque chose de simple à installer, à tester et à déployer. C'est moins glamour qu'un beau dashboard, mais c'est ce qui fait tenir le projet debout.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Voilà, merci pour votre attention. Je suis disponible pour répondre à vos questions sur n'importe quelle partie du pipeline.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1047750" y="419100"/>
            <a:ext cx="2600444" cy="26955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PFM · ENIAD · 2025—2026</a:t>
            </a:r>
            <a:endParaRPr lang="en-US" sz="1350" dirty="0"/>
          </a:p>
        </p:txBody>
      </p:sp>
      <p:sp>
        <p:nvSpPr>
          <p:cNvPr id="3" name="Shape 1"/>
          <p:cNvSpPr/>
          <p:nvPr/>
        </p:nvSpPr>
        <p:spPr>
          <a:xfrm>
            <a:off x="16224290" y="496729"/>
            <a:ext cx="76200" cy="76200"/>
          </a:xfrm>
          <a:prstGeom prst="ellipse">
            <a:avLst/>
          </a:prstGeom>
          <a:solidFill>
            <a:srgbClr val="2A5FD9"/>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01 / 18</a:t>
            </a:r>
            <a:endParaRPr lang="en-US" sz="1350" dirty="0"/>
          </a:p>
        </p:txBody>
      </p:sp>
      <p:sp>
        <p:nvSpPr>
          <p:cNvPr id="5" name="Text 3"/>
          <p:cNvSpPr/>
          <p:nvPr/>
        </p:nvSpPr>
        <p:spPr>
          <a:xfrm>
            <a:off x="1047750" y="2252735"/>
            <a:ext cx="3885057" cy="320993"/>
          </a:xfrm>
          <a:prstGeom prst="rect">
            <a:avLst/>
          </a:prstGeom>
          <a:noFill/>
          <a:ln/>
        </p:spPr>
        <p:txBody>
          <a:bodyPr wrap="square" lIns="25400" tIns="25400" rIns="25400" bIns="25400" rtlCol="0" anchor="t">
            <a:noAutofit/>
          </a:bodyPr>
          <a:lstStyle/>
          <a:p>
            <a:pPr marL="0" indent="0" algn="l">
              <a:lnSpc>
                <a:spcPct val="135000"/>
              </a:lnSpc>
              <a:buNone/>
            </a:pPr>
            <a:r>
              <a:rPr lang="en-US" sz="2400" kern="0" spc="198" dirty="0">
                <a:solidFill>
                  <a:srgbClr val="2A5FD9"/>
                </a:solidFill>
                <a:latin typeface="Courier New" pitchFamily="34" charset="0"/>
                <a:ea typeface="Courier New" pitchFamily="34" charset="-122"/>
                <a:cs typeface="Courier New" pitchFamily="34" charset="-120"/>
              </a:rPr>
              <a:t>VOLET DEVOPS</a:t>
            </a:r>
            <a:endParaRPr lang="en-US" sz="2400" dirty="0"/>
          </a:p>
        </p:txBody>
      </p:sp>
      <p:sp>
        <p:nvSpPr>
          <p:cNvPr id="6" name="Text 4"/>
          <p:cNvSpPr/>
          <p:nvPr/>
        </p:nvSpPr>
        <p:spPr>
          <a:xfrm>
            <a:off x="10157254" y="914400"/>
            <a:ext cx="7082996" cy="396240"/>
          </a:xfrm>
          <a:prstGeom prst="rect">
            <a:avLst/>
          </a:prstGeom>
          <a:noFill/>
          <a:ln/>
        </p:spPr>
        <p:txBody>
          <a:bodyPr wrap="square" lIns="25400" tIns="25400" rIns="25400" bIns="25400" rtlCol="0" anchor="t">
            <a:noAutofit/>
          </a:bodyPr>
          <a:lstStyle/>
          <a:p>
            <a:pPr marL="0" indent="0" algn="r">
              <a:lnSpc>
                <a:spcPct val="160000"/>
              </a:lnSpc>
              <a:buNone/>
            </a:pPr>
            <a:r>
              <a:rPr lang="en-US" sz="1600" dirty="0">
                <a:solidFill>
                  <a:srgbClr val="1B1E25"/>
                </a:solidFill>
                <a:latin typeface="Courier New" pitchFamily="34" charset="0"/>
                <a:ea typeface="Courier New" pitchFamily="34" charset="-122"/>
                <a:cs typeface="Courier New" pitchFamily="34" charset="-120"/>
              </a:rPr>
              <a:t>Équipe </a:t>
            </a:r>
            <a:r>
              <a:rPr lang="en-US" sz="1600" dirty="0">
                <a:solidFill>
                  <a:srgbClr val="6E7280"/>
                </a:solidFill>
                <a:latin typeface="Courier New" pitchFamily="34" charset="0"/>
                <a:ea typeface="Courier New" pitchFamily="34" charset="-122"/>
                <a:cs typeface="Courier New" pitchFamily="34" charset="-120"/>
              </a:rPr>
              <a:t>· AIT ALI MAROUANE · AMGHAR ANOUAR · ENGAR AYMEN</a:t>
            </a:r>
            <a:endParaRPr lang="en-US" sz="1600" dirty="0"/>
          </a:p>
        </p:txBody>
      </p:sp>
      <p:sp>
        <p:nvSpPr>
          <p:cNvPr id="7" name="Text 5"/>
          <p:cNvSpPr/>
          <p:nvPr/>
        </p:nvSpPr>
        <p:spPr>
          <a:xfrm>
            <a:off x="12966074" y="1272540"/>
            <a:ext cx="4274176" cy="396240"/>
          </a:xfrm>
          <a:prstGeom prst="rect">
            <a:avLst/>
          </a:prstGeom>
          <a:noFill/>
          <a:ln/>
        </p:spPr>
        <p:txBody>
          <a:bodyPr wrap="square" lIns="25400" tIns="25400" rIns="25400" bIns="25400" rtlCol="0" anchor="t">
            <a:normAutofit fontScale="92500"/>
          </a:bodyPr>
          <a:lstStyle/>
          <a:p>
            <a:pPr marL="0" indent="0" algn="r">
              <a:lnSpc>
                <a:spcPct val="160000"/>
              </a:lnSpc>
              <a:buNone/>
            </a:pPr>
            <a:r>
              <a:rPr lang="en-US" sz="1650" dirty="0">
                <a:solidFill>
                  <a:srgbClr val="1B1E25"/>
                </a:solidFill>
                <a:latin typeface="Courier New" pitchFamily="34" charset="0"/>
                <a:ea typeface="Courier New" pitchFamily="34" charset="-122"/>
                <a:cs typeface="Courier New" pitchFamily="34" charset="-120"/>
              </a:rPr>
              <a:t>Encadrant </a:t>
            </a:r>
            <a:r>
              <a:rPr lang="en-US" sz="1650" dirty="0">
                <a:solidFill>
                  <a:srgbClr val="6E7280"/>
                </a:solidFill>
                <a:latin typeface="Courier New" pitchFamily="34" charset="0"/>
                <a:ea typeface="Courier New" pitchFamily="34" charset="-122"/>
                <a:cs typeface="Courier New" pitchFamily="34" charset="-120"/>
              </a:rPr>
              <a:t>· Prof. ALAMI NABIL</a:t>
            </a:r>
            <a:endParaRPr lang="en-US" sz="1650" dirty="0"/>
          </a:p>
        </p:txBody>
      </p:sp>
      <p:sp>
        <p:nvSpPr>
          <p:cNvPr id="8" name="Text 6"/>
          <p:cNvSpPr/>
          <p:nvPr/>
        </p:nvSpPr>
        <p:spPr>
          <a:xfrm>
            <a:off x="12966074" y="1630680"/>
            <a:ext cx="4274176" cy="396240"/>
          </a:xfrm>
          <a:prstGeom prst="rect">
            <a:avLst/>
          </a:prstGeom>
          <a:noFill/>
          <a:ln/>
        </p:spPr>
        <p:txBody>
          <a:bodyPr wrap="square" lIns="25400" tIns="25400" rIns="25400" bIns="25400" rtlCol="0" anchor="t">
            <a:normAutofit/>
          </a:bodyPr>
          <a:lstStyle/>
          <a:p>
            <a:pPr marL="0" indent="0" algn="r">
              <a:lnSpc>
                <a:spcPct val="160000"/>
              </a:lnSpc>
              <a:buNone/>
            </a:pPr>
            <a:r>
              <a:rPr lang="en-US" sz="1650" dirty="0">
                <a:solidFill>
                  <a:srgbClr val="1B1E25"/>
                </a:solidFill>
                <a:latin typeface="Courier New" pitchFamily="34" charset="0"/>
                <a:ea typeface="Courier New" pitchFamily="34" charset="-122"/>
                <a:cs typeface="Courier New" pitchFamily="34" charset="-120"/>
              </a:rPr>
              <a:t>Date </a:t>
            </a:r>
            <a:r>
              <a:rPr lang="en-US" sz="1650" dirty="0">
                <a:solidFill>
                  <a:srgbClr val="6E7280"/>
                </a:solidFill>
                <a:latin typeface="Courier New" pitchFamily="34" charset="0"/>
                <a:ea typeface="Courier New" pitchFamily="34" charset="-122"/>
                <a:cs typeface="Courier New" pitchFamily="34" charset="-120"/>
              </a:rPr>
              <a:t>· 12 mai 2026</a:t>
            </a:r>
            <a:endParaRPr lang="en-US" sz="1650" dirty="0"/>
          </a:p>
        </p:txBody>
      </p:sp>
      <p:sp>
        <p:nvSpPr>
          <p:cNvPr id="9" name="Text 7"/>
          <p:cNvSpPr/>
          <p:nvPr/>
        </p:nvSpPr>
        <p:spPr>
          <a:xfrm>
            <a:off x="1047750" y="2893219"/>
            <a:ext cx="16678275" cy="3535680"/>
          </a:xfrm>
          <a:prstGeom prst="rect">
            <a:avLst/>
          </a:prstGeom>
          <a:noFill/>
          <a:ln/>
        </p:spPr>
        <p:txBody>
          <a:bodyPr wrap="square" lIns="25400" tIns="25400" rIns="25400" bIns="25400" rtlCol="0" anchor="t">
            <a:normAutofit/>
          </a:bodyPr>
          <a:lstStyle/>
          <a:p>
            <a:pPr marL="0" indent="0" algn="l">
              <a:lnSpc>
                <a:spcPct val="102000"/>
              </a:lnSpc>
              <a:buNone/>
            </a:pPr>
            <a:r>
              <a:rPr lang="en-US" sz="9000" b="1" kern="0" spc="-225" dirty="0">
                <a:solidFill>
                  <a:srgbClr val="1B1E25"/>
                </a:solidFill>
                <a:latin typeface="Arial" pitchFamily="34" charset="0"/>
                <a:ea typeface="Arial" pitchFamily="34" charset="-122"/>
                <a:cs typeface="Arial" pitchFamily="34" charset="-120"/>
              </a:rPr>
              <a:t>Du code au déploiement — </a:t>
            </a:r>
            <a:r>
              <a:rPr lang="en-US" sz="9000" b="1" kern="0" spc="-225" dirty="0">
                <a:solidFill>
                  <a:srgbClr val="2A5FD9"/>
                </a:solidFill>
                <a:latin typeface="Arial" pitchFamily="34" charset="0"/>
                <a:ea typeface="Arial" pitchFamily="34" charset="-122"/>
                <a:cs typeface="Arial" pitchFamily="34" charset="-120"/>
              </a:rPr>
              <a:t>en une commande.</a:t>
            </a:r>
            <a:endParaRPr lang="en-US" sz="9000" dirty="0"/>
          </a:p>
        </p:txBody>
      </p:sp>
      <p:sp>
        <p:nvSpPr>
          <p:cNvPr id="10" name="Text 8"/>
          <p:cNvSpPr/>
          <p:nvPr/>
        </p:nvSpPr>
        <p:spPr>
          <a:xfrm>
            <a:off x="1047750" y="6733699"/>
            <a:ext cx="10791825" cy="1546860"/>
          </a:xfrm>
          <a:prstGeom prst="rect">
            <a:avLst/>
          </a:prstGeom>
          <a:noFill/>
          <a:ln/>
        </p:spPr>
        <p:txBody>
          <a:bodyPr wrap="square" lIns="25400" tIns="25400" rIns="25400" bIns="25400" rtlCol="0" anchor="t">
            <a:normAutofit/>
          </a:bodyPr>
          <a:lstStyle/>
          <a:p>
            <a:pPr marL="0" indent="0" algn="l">
              <a:lnSpc>
                <a:spcPct val="120000"/>
              </a:lnSpc>
              <a:buNone/>
            </a:pPr>
            <a:r>
              <a:rPr lang="en-US" sz="3300" kern="0" spc="-33" dirty="0">
                <a:solidFill>
                  <a:srgbClr val="3A3E48"/>
                </a:solidFill>
                <a:latin typeface="Arial" pitchFamily="34" charset="0"/>
                <a:ea typeface="Arial" pitchFamily="34" charset="-122"/>
                <a:cs typeface="Arial" pitchFamily="34" charset="-120"/>
              </a:rPr>
              <a:t>Comment GitHub, les Images, les Volumes et les Networks Docker font tenir notre plateforme décisionnelle debout.</a:t>
            </a:r>
            <a:endParaRPr lang="en-US" sz="3300" dirty="0"/>
          </a:p>
        </p:txBody>
      </p:sp>
      <p:sp>
        <p:nvSpPr>
          <p:cNvPr id="11" name="Text 9"/>
          <p:cNvSpPr/>
          <p:nvPr/>
        </p:nvSpPr>
        <p:spPr>
          <a:xfrm>
            <a:off x="1047750" y="9146857"/>
            <a:ext cx="3626666"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dirty="0">
                <a:solidFill>
                  <a:srgbClr val="6E7280"/>
                </a:solidFill>
                <a:latin typeface="Courier New" pitchFamily="34" charset="0"/>
                <a:ea typeface="Courier New" pitchFamily="34" charset="-122"/>
                <a:cs typeface="Courier New" pitchFamily="34" charset="-120"/>
              </a:rPr>
              <a:t>plateforme-decisionnelle-pfa</a:t>
            </a:r>
            <a:endParaRPr lang="en-US" sz="1650" dirty="0"/>
          </a:p>
        </p:txBody>
      </p:sp>
      <p:sp>
        <p:nvSpPr>
          <p:cNvPr id="12" name="Text 10"/>
          <p:cNvSpPr/>
          <p:nvPr/>
        </p:nvSpPr>
        <p:spPr>
          <a:xfrm>
            <a:off x="12789243" y="9146857"/>
            <a:ext cx="4707925" cy="320993"/>
          </a:xfrm>
          <a:prstGeom prst="rect">
            <a:avLst/>
          </a:prstGeom>
          <a:noFill/>
          <a:ln/>
        </p:spPr>
        <p:txBody>
          <a:bodyPr wrap="square" lIns="25400" tIns="25400" rIns="25400" bIns="25400" rtlCol="0" anchor="t">
            <a:noAutofit/>
          </a:bodyPr>
          <a:lstStyle/>
          <a:p>
            <a:pPr marL="0" indent="0" algn="l">
              <a:lnSpc>
                <a:spcPct val="135000"/>
              </a:lnSpc>
              <a:buNone/>
            </a:pPr>
            <a:r>
              <a:rPr lang="en-US" dirty="0">
                <a:solidFill>
                  <a:srgbClr val="6E7280"/>
                </a:solidFill>
                <a:latin typeface="Courier New" pitchFamily="34" charset="0"/>
                <a:ea typeface="Courier New" pitchFamily="34" charset="-122"/>
                <a:cs typeface="Courier New" pitchFamily="34" charset="-120"/>
              </a:rPr>
              <a:t>ANNÉE UNIVERSITAIRE : 2025 / 2026</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1047750" y="419100"/>
            <a:ext cx="1502926"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02 — CONTEXTE</a:t>
            </a:r>
            <a:endParaRPr lang="en-US" sz="1350" dirty="0"/>
          </a:p>
        </p:txBody>
      </p:sp>
      <p:sp>
        <p:nvSpPr>
          <p:cNvPr id="3" name="Text 1"/>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02 / 18</a:t>
            </a:r>
            <a:endParaRPr lang="en-US" sz="1350" dirty="0"/>
          </a:p>
        </p:txBody>
      </p:sp>
      <p:sp>
        <p:nvSpPr>
          <p:cNvPr id="4" name="Text 2"/>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LE PROJET EN UNE PHRASE</a:t>
            </a:r>
            <a:endParaRPr lang="en-US" sz="1650" dirty="0"/>
          </a:p>
        </p:txBody>
      </p:sp>
      <p:sp>
        <p:nvSpPr>
          <p:cNvPr id="5" name="Text 3"/>
          <p:cNvSpPr/>
          <p:nvPr/>
        </p:nvSpPr>
        <p:spPr>
          <a:xfrm>
            <a:off x="1047750" y="1368742"/>
            <a:ext cx="16678275" cy="219837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1B1E25"/>
                </a:solidFill>
                <a:latin typeface="Arial" pitchFamily="34" charset="0"/>
                <a:ea typeface="Arial" pitchFamily="34" charset="-122"/>
                <a:cs typeface="Arial" pitchFamily="34" charset="-120"/>
              </a:rPr>
              <a:t>Une plateforme BI pour suivre la performance des étudiants — en temps réel, avec de la prédiction de risque.</a:t>
            </a:r>
            <a:endParaRPr lang="en-US" sz="5400" dirty="0"/>
          </a:p>
        </p:txBody>
      </p:sp>
      <p:sp>
        <p:nvSpPr>
          <p:cNvPr id="6" name="Shape 4"/>
          <p:cNvSpPr/>
          <p:nvPr/>
        </p:nvSpPr>
        <p:spPr>
          <a:xfrm>
            <a:off x="1047750" y="6491288"/>
            <a:ext cx="2933700" cy="2938463"/>
          </a:xfrm>
          <a:prstGeom prst="roundRect">
            <a:avLst>
              <a:gd name="adj" fmla="val 5844"/>
            </a:avLst>
          </a:prstGeom>
          <a:solidFill>
            <a:srgbClr val="ECE6D6"/>
          </a:solidFill>
          <a:ln/>
        </p:spPr>
      </p:sp>
      <p:sp>
        <p:nvSpPr>
          <p:cNvPr id="7" name="Text 5"/>
          <p:cNvSpPr/>
          <p:nvPr/>
        </p:nvSpPr>
        <p:spPr>
          <a:xfrm>
            <a:off x="1466850" y="6872288"/>
            <a:ext cx="2171700"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Courier New" pitchFamily="34" charset="0"/>
                <a:ea typeface="Courier New" pitchFamily="34" charset="-122"/>
                <a:cs typeface="Courier New" pitchFamily="34" charset="-120"/>
              </a:rPr>
              <a:t>Backend</a:t>
            </a:r>
            <a:endParaRPr lang="en-US" sz="1950" dirty="0"/>
          </a:p>
        </p:txBody>
      </p:sp>
      <p:sp>
        <p:nvSpPr>
          <p:cNvPr id="8" name="Text 6"/>
          <p:cNvSpPr/>
          <p:nvPr/>
        </p:nvSpPr>
        <p:spPr>
          <a:xfrm>
            <a:off x="1466850" y="7339965"/>
            <a:ext cx="2171700" cy="963930"/>
          </a:xfrm>
          <a:prstGeom prst="rect">
            <a:avLst/>
          </a:prstGeom>
          <a:noFill/>
          <a:ln/>
        </p:spPr>
        <p:txBody>
          <a:bodyPr wrap="square" lIns="25400" tIns="25400" rIns="25400" bIns="25400" rtlCol="0" anchor="t">
            <a:normAutofit/>
          </a:bodyPr>
          <a:lstStyle/>
          <a:p>
            <a:pPr marL="0" indent="0" algn="l">
              <a:lnSpc>
                <a:spcPct val="135000"/>
              </a:lnSpc>
              <a:buNone/>
            </a:pPr>
            <a:r>
              <a:rPr lang="en-US" sz="2700" b="1" dirty="0">
                <a:solidFill>
                  <a:srgbClr val="1B1E25"/>
                </a:solidFill>
                <a:latin typeface="Arial" pitchFamily="34" charset="0"/>
                <a:ea typeface="Arial" pitchFamily="34" charset="-122"/>
                <a:cs typeface="Arial" pitchFamily="34" charset="-120"/>
              </a:rPr>
              <a:t>ASP.NET Core 8</a:t>
            </a:r>
            <a:endParaRPr lang="en-US" sz="2700" dirty="0"/>
          </a:p>
        </p:txBody>
      </p:sp>
      <p:sp>
        <p:nvSpPr>
          <p:cNvPr id="9" name="Text 7"/>
          <p:cNvSpPr/>
          <p:nvPr/>
        </p:nvSpPr>
        <p:spPr>
          <a:xfrm>
            <a:off x="1466850" y="8380095"/>
            <a:ext cx="2171700" cy="706755"/>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Arial" pitchFamily="34" charset="0"/>
                <a:ea typeface="Arial" pitchFamily="34" charset="-122"/>
                <a:cs typeface="Arial" pitchFamily="34" charset="-120"/>
              </a:rPr>
              <a:t>API REST · JWT · EF Core</a:t>
            </a:r>
            <a:endParaRPr lang="en-US" sz="1950" dirty="0"/>
          </a:p>
        </p:txBody>
      </p:sp>
      <p:sp>
        <p:nvSpPr>
          <p:cNvPr id="10" name="Shape 8"/>
          <p:cNvSpPr/>
          <p:nvPr/>
        </p:nvSpPr>
        <p:spPr>
          <a:xfrm>
            <a:off x="4362450" y="6491288"/>
            <a:ext cx="2933700" cy="2938463"/>
          </a:xfrm>
          <a:prstGeom prst="roundRect">
            <a:avLst>
              <a:gd name="adj" fmla="val 5844"/>
            </a:avLst>
          </a:prstGeom>
          <a:solidFill>
            <a:srgbClr val="ECE6D6"/>
          </a:solidFill>
          <a:ln/>
        </p:spPr>
      </p:sp>
      <p:sp>
        <p:nvSpPr>
          <p:cNvPr id="11" name="Text 9"/>
          <p:cNvSpPr/>
          <p:nvPr/>
        </p:nvSpPr>
        <p:spPr>
          <a:xfrm>
            <a:off x="4781550" y="6872288"/>
            <a:ext cx="2171700"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Courier New" pitchFamily="34" charset="0"/>
                <a:ea typeface="Courier New" pitchFamily="34" charset="-122"/>
                <a:cs typeface="Courier New" pitchFamily="34" charset="-120"/>
              </a:rPr>
              <a:t>Service ML</a:t>
            </a:r>
            <a:endParaRPr lang="en-US" sz="1950" dirty="0"/>
          </a:p>
        </p:txBody>
      </p:sp>
      <p:sp>
        <p:nvSpPr>
          <p:cNvPr id="12" name="Text 10"/>
          <p:cNvSpPr/>
          <p:nvPr/>
        </p:nvSpPr>
        <p:spPr>
          <a:xfrm>
            <a:off x="4781550" y="7339965"/>
            <a:ext cx="2171700" cy="501015"/>
          </a:xfrm>
          <a:prstGeom prst="rect">
            <a:avLst/>
          </a:prstGeom>
          <a:noFill/>
          <a:ln/>
        </p:spPr>
        <p:txBody>
          <a:bodyPr wrap="square" lIns="25400" tIns="25400" rIns="25400" bIns="25400" rtlCol="0" anchor="t">
            <a:normAutofit/>
          </a:bodyPr>
          <a:lstStyle/>
          <a:p>
            <a:pPr marL="0" indent="0" algn="l">
              <a:lnSpc>
                <a:spcPct val="135000"/>
              </a:lnSpc>
              <a:buNone/>
            </a:pPr>
            <a:r>
              <a:rPr lang="en-US" sz="2700" b="1" dirty="0">
                <a:solidFill>
                  <a:srgbClr val="1B1E25"/>
                </a:solidFill>
                <a:latin typeface="Arial" pitchFamily="34" charset="0"/>
                <a:ea typeface="Arial" pitchFamily="34" charset="-122"/>
                <a:cs typeface="Arial" pitchFamily="34" charset="-120"/>
              </a:rPr>
              <a:t>FastAPI</a:t>
            </a:r>
            <a:endParaRPr lang="en-US" sz="2700" dirty="0"/>
          </a:p>
        </p:txBody>
      </p:sp>
      <p:sp>
        <p:nvSpPr>
          <p:cNvPr id="13" name="Text 11"/>
          <p:cNvSpPr/>
          <p:nvPr/>
        </p:nvSpPr>
        <p:spPr>
          <a:xfrm>
            <a:off x="4781550" y="7917180"/>
            <a:ext cx="2171700" cy="706755"/>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Arial" pitchFamily="34" charset="0"/>
                <a:ea typeface="Arial" pitchFamily="34" charset="-122"/>
                <a:cs typeface="Arial" pitchFamily="34" charset="-120"/>
              </a:rPr>
              <a:t>scikit-learn · XGBoost</a:t>
            </a:r>
            <a:endParaRPr lang="en-US" sz="1950" dirty="0"/>
          </a:p>
        </p:txBody>
      </p:sp>
      <p:sp>
        <p:nvSpPr>
          <p:cNvPr id="14" name="Shape 12"/>
          <p:cNvSpPr/>
          <p:nvPr/>
        </p:nvSpPr>
        <p:spPr>
          <a:xfrm>
            <a:off x="7677150" y="6491288"/>
            <a:ext cx="2933700" cy="2938463"/>
          </a:xfrm>
          <a:prstGeom prst="roundRect">
            <a:avLst>
              <a:gd name="adj" fmla="val 5844"/>
            </a:avLst>
          </a:prstGeom>
          <a:solidFill>
            <a:srgbClr val="ECE6D6"/>
          </a:solidFill>
          <a:ln/>
        </p:spPr>
      </p:sp>
      <p:sp>
        <p:nvSpPr>
          <p:cNvPr id="15" name="Text 13"/>
          <p:cNvSpPr/>
          <p:nvPr/>
        </p:nvSpPr>
        <p:spPr>
          <a:xfrm>
            <a:off x="8096250" y="6872288"/>
            <a:ext cx="2171700"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Courier New" pitchFamily="34" charset="0"/>
                <a:ea typeface="Courier New" pitchFamily="34" charset="-122"/>
                <a:cs typeface="Courier New" pitchFamily="34" charset="-120"/>
              </a:rPr>
              <a:t>Base</a:t>
            </a:r>
            <a:endParaRPr lang="en-US" sz="1950" dirty="0"/>
          </a:p>
        </p:txBody>
      </p:sp>
      <p:sp>
        <p:nvSpPr>
          <p:cNvPr id="16" name="Text 14"/>
          <p:cNvSpPr/>
          <p:nvPr/>
        </p:nvSpPr>
        <p:spPr>
          <a:xfrm>
            <a:off x="8096250" y="7339965"/>
            <a:ext cx="2171700" cy="501015"/>
          </a:xfrm>
          <a:prstGeom prst="rect">
            <a:avLst/>
          </a:prstGeom>
          <a:noFill/>
          <a:ln/>
        </p:spPr>
        <p:txBody>
          <a:bodyPr wrap="square" lIns="25400" tIns="25400" rIns="25400" bIns="25400" rtlCol="0" anchor="t">
            <a:normAutofit/>
          </a:bodyPr>
          <a:lstStyle/>
          <a:p>
            <a:pPr marL="0" indent="0" algn="l">
              <a:lnSpc>
                <a:spcPct val="135000"/>
              </a:lnSpc>
              <a:buNone/>
            </a:pPr>
            <a:r>
              <a:rPr lang="en-US" sz="2700" b="1" dirty="0">
                <a:solidFill>
                  <a:srgbClr val="1B1E25"/>
                </a:solidFill>
                <a:latin typeface="Arial" pitchFamily="34" charset="0"/>
                <a:ea typeface="Arial" pitchFamily="34" charset="-122"/>
                <a:cs typeface="Arial" pitchFamily="34" charset="-120"/>
              </a:rPr>
              <a:t>SQL Server</a:t>
            </a:r>
            <a:endParaRPr lang="en-US" sz="2700" dirty="0"/>
          </a:p>
        </p:txBody>
      </p:sp>
      <p:sp>
        <p:nvSpPr>
          <p:cNvPr id="17" name="Text 15"/>
          <p:cNvSpPr/>
          <p:nvPr/>
        </p:nvSpPr>
        <p:spPr>
          <a:xfrm>
            <a:off x="8096250" y="7917180"/>
            <a:ext cx="2171700" cy="706755"/>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Arial" pitchFamily="34" charset="0"/>
                <a:ea typeface="Arial" pitchFamily="34" charset="-122"/>
                <a:cs typeface="Arial" pitchFamily="34" charset="-120"/>
              </a:rPr>
              <a:t>OLTP + Data Warehouse</a:t>
            </a:r>
            <a:endParaRPr lang="en-US" sz="1950" dirty="0"/>
          </a:p>
        </p:txBody>
      </p:sp>
      <p:sp>
        <p:nvSpPr>
          <p:cNvPr id="18" name="Shape 16"/>
          <p:cNvSpPr/>
          <p:nvPr/>
        </p:nvSpPr>
        <p:spPr>
          <a:xfrm>
            <a:off x="10991850" y="6491288"/>
            <a:ext cx="2933700" cy="2938463"/>
          </a:xfrm>
          <a:prstGeom prst="roundRect">
            <a:avLst>
              <a:gd name="adj" fmla="val 5844"/>
            </a:avLst>
          </a:prstGeom>
          <a:solidFill>
            <a:srgbClr val="ECE6D6"/>
          </a:solidFill>
          <a:ln/>
        </p:spPr>
      </p:sp>
      <p:sp>
        <p:nvSpPr>
          <p:cNvPr id="19" name="Text 17"/>
          <p:cNvSpPr/>
          <p:nvPr/>
        </p:nvSpPr>
        <p:spPr>
          <a:xfrm>
            <a:off x="11410950" y="6872288"/>
            <a:ext cx="2171700"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Courier New" pitchFamily="34" charset="0"/>
                <a:ea typeface="Courier New" pitchFamily="34" charset="-122"/>
                <a:cs typeface="Courier New" pitchFamily="34" charset="-120"/>
              </a:rPr>
              <a:t>Frontend</a:t>
            </a:r>
            <a:endParaRPr lang="en-US" sz="1950" dirty="0"/>
          </a:p>
        </p:txBody>
      </p:sp>
      <p:sp>
        <p:nvSpPr>
          <p:cNvPr id="20" name="Text 18"/>
          <p:cNvSpPr/>
          <p:nvPr/>
        </p:nvSpPr>
        <p:spPr>
          <a:xfrm>
            <a:off x="11410950" y="7339965"/>
            <a:ext cx="2171700" cy="501015"/>
          </a:xfrm>
          <a:prstGeom prst="rect">
            <a:avLst/>
          </a:prstGeom>
          <a:noFill/>
          <a:ln/>
        </p:spPr>
        <p:txBody>
          <a:bodyPr wrap="square" lIns="25400" tIns="25400" rIns="25400" bIns="25400" rtlCol="0" anchor="t">
            <a:normAutofit/>
          </a:bodyPr>
          <a:lstStyle/>
          <a:p>
            <a:pPr marL="0" indent="0" algn="l">
              <a:lnSpc>
                <a:spcPct val="135000"/>
              </a:lnSpc>
              <a:buNone/>
            </a:pPr>
            <a:r>
              <a:rPr lang="en-US" sz="2700" b="1" dirty="0">
                <a:solidFill>
                  <a:srgbClr val="1B1E25"/>
                </a:solidFill>
                <a:latin typeface="Arial" pitchFamily="34" charset="0"/>
                <a:ea typeface="Arial" pitchFamily="34" charset="-122"/>
                <a:cs typeface="Arial" pitchFamily="34" charset="-120"/>
              </a:rPr>
              <a:t>React + Vite</a:t>
            </a:r>
            <a:endParaRPr lang="en-US" sz="2700" dirty="0"/>
          </a:p>
        </p:txBody>
      </p:sp>
      <p:sp>
        <p:nvSpPr>
          <p:cNvPr id="21" name="Text 19"/>
          <p:cNvSpPr/>
          <p:nvPr/>
        </p:nvSpPr>
        <p:spPr>
          <a:xfrm>
            <a:off x="11410950" y="7917180"/>
            <a:ext cx="2171700" cy="706755"/>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Arial" pitchFamily="34" charset="0"/>
                <a:ea typeface="Arial" pitchFamily="34" charset="-122"/>
                <a:cs typeface="Arial" pitchFamily="34" charset="-120"/>
              </a:rPr>
              <a:t>TypeScript · TanStack</a:t>
            </a:r>
            <a:endParaRPr lang="en-US" sz="1950" dirty="0"/>
          </a:p>
        </p:txBody>
      </p:sp>
      <p:sp>
        <p:nvSpPr>
          <p:cNvPr id="22" name="Shape 20"/>
          <p:cNvSpPr/>
          <p:nvPr/>
        </p:nvSpPr>
        <p:spPr>
          <a:xfrm>
            <a:off x="14306550" y="6491288"/>
            <a:ext cx="2933700" cy="2938463"/>
          </a:xfrm>
          <a:prstGeom prst="roundRect">
            <a:avLst>
              <a:gd name="adj" fmla="val 5844"/>
            </a:avLst>
          </a:prstGeom>
          <a:solidFill>
            <a:srgbClr val="ECE6D6"/>
          </a:solidFill>
          <a:ln/>
        </p:spPr>
      </p:sp>
      <p:sp>
        <p:nvSpPr>
          <p:cNvPr id="23" name="Text 21"/>
          <p:cNvSpPr/>
          <p:nvPr/>
        </p:nvSpPr>
        <p:spPr>
          <a:xfrm>
            <a:off x="14725650" y="6872288"/>
            <a:ext cx="2171700"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Courier New" pitchFamily="34" charset="0"/>
                <a:ea typeface="Courier New" pitchFamily="34" charset="-122"/>
                <a:cs typeface="Courier New" pitchFamily="34" charset="-120"/>
              </a:rPr>
              <a:t>Reverse proxy</a:t>
            </a:r>
            <a:endParaRPr lang="en-US" sz="1950" dirty="0"/>
          </a:p>
        </p:txBody>
      </p:sp>
      <p:sp>
        <p:nvSpPr>
          <p:cNvPr id="24" name="Text 22"/>
          <p:cNvSpPr/>
          <p:nvPr/>
        </p:nvSpPr>
        <p:spPr>
          <a:xfrm>
            <a:off x="14725650" y="7339965"/>
            <a:ext cx="2171700" cy="501015"/>
          </a:xfrm>
          <a:prstGeom prst="rect">
            <a:avLst/>
          </a:prstGeom>
          <a:noFill/>
          <a:ln/>
        </p:spPr>
        <p:txBody>
          <a:bodyPr wrap="square" lIns="25400" tIns="25400" rIns="25400" bIns="25400" rtlCol="0" anchor="t">
            <a:normAutofit/>
          </a:bodyPr>
          <a:lstStyle/>
          <a:p>
            <a:pPr marL="0" indent="0" algn="l">
              <a:lnSpc>
                <a:spcPct val="135000"/>
              </a:lnSpc>
              <a:buNone/>
            </a:pPr>
            <a:r>
              <a:rPr lang="en-US" sz="2700" b="1" dirty="0">
                <a:solidFill>
                  <a:srgbClr val="1B1E25"/>
                </a:solidFill>
                <a:latin typeface="Arial" pitchFamily="34" charset="0"/>
                <a:ea typeface="Arial" pitchFamily="34" charset="-122"/>
                <a:cs typeface="Arial" pitchFamily="34" charset="-120"/>
              </a:rPr>
              <a:t>Nginx</a:t>
            </a:r>
            <a:endParaRPr lang="en-US" sz="2700" dirty="0"/>
          </a:p>
        </p:txBody>
      </p:sp>
      <p:sp>
        <p:nvSpPr>
          <p:cNvPr id="25" name="Text 23"/>
          <p:cNvSpPr/>
          <p:nvPr/>
        </p:nvSpPr>
        <p:spPr>
          <a:xfrm>
            <a:off x="14725650" y="7917180"/>
            <a:ext cx="2171700" cy="706755"/>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Arial" pitchFamily="34" charset="0"/>
                <a:ea typeface="Arial" pitchFamily="34" charset="-122"/>
                <a:cs typeface="Arial" pitchFamily="34" charset="-120"/>
              </a:rPr>
              <a:t>TLS · routage · rate-limit</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217"/>
        </a:solidFill>
        <a:effectLst/>
      </p:bgPr>
    </p:bg>
    <p:spTree>
      <p:nvGrpSpPr>
        <p:cNvPr id="1" name=""/>
        <p:cNvGrpSpPr/>
        <p:nvPr/>
      </p:nvGrpSpPr>
      <p:grpSpPr>
        <a:xfrm>
          <a:off x="0" y="0"/>
          <a:ext cx="0" cy="0"/>
          <a:chOff x="0" y="0"/>
          <a:chExt cx="0" cy="0"/>
        </a:xfrm>
      </p:grpSpPr>
      <p:sp>
        <p:nvSpPr>
          <p:cNvPr id="2" name="Text 0"/>
          <p:cNvSpPr/>
          <p:nvPr/>
        </p:nvSpPr>
        <p:spPr>
          <a:xfrm>
            <a:off x="1047750" y="419100"/>
            <a:ext cx="2271117"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9AA0AB"/>
                </a:solidFill>
                <a:latin typeface="Courier New" pitchFamily="34" charset="0"/>
                <a:ea typeface="Courier New" pitchFamily="34" charset="-122"/>
                <a:cs typeface="Courier New" pitchFamily="34" charset="-120"/>
              </a:rPr>
              <a:t>03 — POURQUOI DEVOPS</a:t>
            </a:r>
            <a:endParaRPr lang="en-US" sz="1350" dirty="0"/>
          </a:p>
        </p:txBody>
      </p:sp>
      <p:sp>
        <p:nvSpPr>
          <p:cNvPr id="3" name="Shape 1"/>
          <p:cNvSpPr/>
          <p:nvPr/>
        </p:nvSpPr>
        <p:spPr>
          <a:xfrm>
            <a:off x="16224290" y="496729"/>
            <a:ext cx="76200" cy="76200"/>
          </a:xfrm>
          <a:prstGeom prst="ellipse">
            <a:avLst/>
          </a:prstGeom>
          <a:solidFill>
            <a:srgbClr val="F1EDE2"/>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9AA0AB"/>
                </a:solidFill>
                <a:latin typeface="Courier New" pitchFamily="34" charset="0"/>
                <a:ea typeface="Courier New" pitchFamily="34" charset="-122"/>
                <a:cs typeface="Courier New" pitchFamily="34" charset="-120"/>
              </a:rPr>
              <a:t>03 / 18</a:t>
            </a:r>
            <a:endParaRPr lang="en-US" sz="1350" dirty="0"/>
          </a:p>
        </p:txBody>
      </p:sp>
      <p:sp>
        <p:nvSpPr>
          <p:cNvPr id="5" name="Text 3"/>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LE PROBLÈME</a:t>
            </a:r>
            <a:endParaRPr lang="en-US" sz="1650" dirty="0"/>
          </a:p>
        </p:txBody>
      </p:sp>
      <p:sp>
        <p:nvSpPr>
          <p:cNvPr id="6" name="Text 4"/>
          <p:cNvSpPr/>
          <p:nvPr/>
        </p:nvSpPr>
        <p:spPr>
          <a:xfrm>
            <a:off x="1047750" y="1368742"/>
            <a:ext cx="16678275" cy="147828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F1EDE2"/>
                </a:solidFill>
                <a:latin typeface="Arial" pitchFamily="34" charset="0"/>
                <a:ea typeface="Arial" pitchFamily="34" charset="-122"/>
                <a:cs typeface="Arial" pitchFamily="34" charset="-120"/>
              </a:rPr>
              <a:t>5 services · 3 langages · 3 développeurs. Sans DevOps, on n'aurait jamais démarré.</a:t>
            </a:r>
            <a:endParaRPr lang="en-US" sz="5400" dirty="0"/>
          </a:p>
        </p:txBody>
      </p:sp>
      <p:sp>
        <p:nvSpPr>
          <p:cNvPr id="7" name="Text 5"/>
          <p:cNvSpPr/>
          <p:nvPr/>
        </p:nvSpPr>
        <p:spPr>
          <a:xfrm>
            <a:off x="1047750" y="5700713"/>
            <a:ext cx="3728085" cy="1581150"/>
          </a:xfrm>
          <a:prstGeom prst="rect">
            <a:avLst/>
          </a:prstGeom>
          <a:noFill/>
          <a:ln/>
        </p:spPr>
        <p:txBody>
          <a:bodyPr wrap="square" lIns="25400" tIns="25400" rIns="25400" bIns="25400" rtlCol="0" anchor="t">
            <a:normAutofit/>
          </a:bodyPr>
          <a:lstStyle/>
          <a:p>
            <a:pPr marL="0" indent="0" algn="l">
              <a:lnSpc>
                <a:spcPct val="90000"/>
              </a:lnSpc>
              <a:buNone/>
            </a:pPr>
            <a:r>
              <a:rPr lang="en-US" sz="13500" b="1" kern="0" spc="-540" dirty="0">
                <a:solidFill>
                  <a:srgbClr val="2A5FD9"/>
                </a:solidFill>
                <a:latin typeface="Arial" pitchFamily="34" charset="0"/>
                <a:ea typeface="Arial" pitchFamily="34" charset="-122"/>
                <a:cs typeface="Arial" pitchFamily="34" charset="-120"/>
              </a:rPr>
              <a:t>1</a:t>
            </a:r>
            <a:endParaRPr lang="en-US" sz="13500" dirty="0"/>
          </a:p>
        </p:txBody>
      </p:sp>
      <p:sp>
        <p:nvSpPr>
          <p:cNvPr id="8" name="Text 6"/>
          <p:cNvSpPr/>
          <p:nvPr/>
        </p:nvSpPr>
        <p:spPr>
          <a:xfrm>
            <a:off x="1047750" y="7415213"/>
            <a:ext cx="3728085" cy="1043940"/>
          </a:xfrm>
          <a:prstGeom prst="rect">
            <a:avLst/>
          </a:prstGeom>
          <a:noFill/>
          <a:ln/>
        </p:spPr>
        <p:txBody>
          <a:bodyPr wrap="square" lIns="25400" tIns="25400" rIns="25400" bIns="25400" rtlCol="0" anchor="t">
            <a:normAutofit/>
          </a:bodyPr>
          <a:lstStyle/>
          <a:p>
            <a:pPr marL="0" indent="0" algn="l">
              <a:lnSpc>
                <a:spcPct val="120000"/>
              </a:lnSpc>
              <a:buNone/>
            </a:pPr>
            <a:r>
              <a:rPr lang="en-US" sz="3300" kern="0" spc="-33" dirty="0">
                <a:solidFill>
                  <a:srgbClr val="F1EDE2"/>
                </a:solidFill>
                <a:latin typeface="Arial" pitchFamily="34" charset="0"/>
                <a:ea typeface="Arial" pitchFamily="34" charset="-122"/>
                <a:cs typeface="Arial" pitchFamily="34" charset="-120"/>
              </a:rPr>
              <a:t>commande pour tout démarrer</a:t>
            </a:r>
            <a:endParaRPr lang="en-US" sz="3300" dirty="0"/>
          </a:p>
        </p:txBody>
      </p:sp>
      <p:sp>
        <p:nvSpPr>
          <p:cNvPr id="9" name="Text 7"/>
          <p:cNvSpPr/>
          <p:nvPr/>
        </p:nvSpPr>
        <p:spPr>
          <a:xfrm>
            <a:off x="1047750" y="8592503"/>
            <a:ext cx="3728085"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9AA0AB"/>
                </a:solidFill>
                <a:latin typeface="Courier New" pitchFamily="34" charset="0"/>
                <a:ea typeface="Courier New" pitchFamily="34" charset="-122"/>
                <a:cs typeface="Courier New" pitchFamily="34" charset="-120"/>
              </a:rPr>
              <a:t>docker compose up</a:t>
            </a:r>
            <a:endParaRPr lang="en-US" sz="1950" dirty="0"/>
          </a:p>
        </p:txBody>
      </p:sp>
      <p:sp>
        <p:nvSpPr>
          <p:cNvPr id="10" name="Text 8"/>
          <p:cNvSpPr/>
          <p:nvPr/>
        </p:nvSpPr>
        <p:spPr>
          <a:xfrm>
            <a:off x="5238750" y="5700713"/>
            <a:ext cx="3728085" cy="1581150"/>
          </a:xfrm>
          <a:prstGeom prst="rect">
            <a:avLst/>
          </a:prstGeom>
          <a:noFill/>
          <a:ln/>
        </p:spPr>
        <p:txBody>
          <a:bodyPr wrap="square" lIns="25400" tIns="25400" rIns="25400" bIns="25400" rtlCol="0" anchor="t">
            <a:normAutofit/>
          </a:bodyPr>
          <a:lstStyle/>
          <a:p>
            <a:pPr marL="0" indent="0" algn="l">
              <a:lnSpc>
                <a:spcPct val="90000"/>
              </a:lnSpc>
              <a:buNone/>
            </a:pPr>
            <a:r>
              <a:rPr lang="en-US" sz="13500" b="1" kern="0" spc="-540" dirty="0">
                <a:solidFill>
                  <a:srgbClr val="2A5FD9"/>
                </a:solidFill>
                <a:latin typeface="Arial" pitchFamily="34" charset="0"/>
                <a:ea typeface="Arial" pitchFamily="34" charset="-122"/>
                <a:cs typeface="Arial" pitchFamily="34" charset="-120"/>
              </a:rPr>
              <a:t>0</a:t>
            </a:r>
            <a:endParaRPr lang="en-US" sz="13500" dirty="0"/>
          </a:p>
        </p:txBody>
      </p:sp>
      <p:sp>
        <p:nvSpPr>
          <p:cNvPr id="11" name="Text 9"/>
          <p:cNvSpPr/>
          <p:nvPr/>
        </p:nvSpPr>
        <p:spPr>
          <a:xfrm>
            <a:off x="5238750" y="7415213"/>
            <a:ext cx="3728085" cy="1546860"/>
          </a:xfrm>
          <a:prstGeom prst="rect">
            <a:avLst/>
          </a:prstGeom>
          <a:noFill/>
          <a:ln/>
        </p:spPr>
        <p:txBody>
          <a:bodyPr wrap="square" lIns="25400" tIns="25400" rIns="25400" bIns="25400" rtlCol="0" anchor="t">
            <a:normAutofit/>
          </a:bodyPr>
          <a:lstStyle/>
          <a:p>
            <a:pPr marL="0" indent="0" algn="l">
              <a:lnSpc>
                <a:spcPct val="120000"/>
              </a:lnSpc>
              <a:buNone/>
            </a:pPr>
            <a:r>
              <a:rPr lang="en-US" sz="3300" kern="0" spc="-33" dirty="0">
                <a:solidFill>
                  <a:srgbClr val="F1EDE2"/>
                </a:solidFill>
                <a:latin typeface="Arial" pitchFamily="34" charset="0"/>
                <a:ea typeface="Arial" pitchFamily="34" charset="-122"/>
                <a:cs typeface="Arial" pitchFamily="34" charset="-120"/>
              </a:rPr>
              <a:t>installation manuelle de dépendances</a:t>
            </a:r>
            <a:endParaRPr lang="en-US" sz="3300" dirty="0"/>
          </a:p>
        </p:txBody>
      </p:sp>
      <p:sp>
        <p:nvSpPr>
          <p:cNvPr id="12" name="Text 10"/>
          <p:cNvSpPr/>
          <p:nvPr/>
        </p:nvSpPr>
        <p:spPr>
          <a:xfrm>
            <a:off x="5238750" y="9095423"/>
            <a:ext cx="3728085"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9AA0AB"/>
                </a:solidFill>
                <a:latin typeface="Courier New" pitchFamily="34" charset="0"/>
                <a:ea typeface="Courier New" pitchFamily="34" charset="-122"/>
                <a:cs typeface="Courier New" pitchFamily="34" charset="-120"/>
              </a:rPr>
              <a:t>tout est dans les images</a:t>
            </a:r>
            <a:endParaRPr lang="en-US" sz="1950" dirty="0"/>
          </a:p>
        </p:txBody>
      </p:sp>
      <p:sp>
        <p:nvSpPr>
          <p:cNvPr id="13" name="Text 11"/>
          <p:cNvSpPr/>
          <p:nvPr/>
        </p:nvSpPr>
        <p:spPr>
          <a:xfrm>
            <a:off x="9429750" y="5700713"/>
            <a:ext cx="3728085" cy="1581150"/>
          </a:xfrm>
          <a:prstGeom prst="rect">
            <a:avLst/>
          </a:prstGeom>
          <a:noFill/>
          <a:ln/>
        </p:spPr>
        <p:txBody>
          <a:bodyPr wrap="square" lIns="25400" tIns="25400" rIns="25400" bIns="25400" rtlCol="0" anchor="t">
            <a:normAutofit/>
          </a:bodyPr>
          <a:lstStyle/>
          <a:p>
            <a:pPr marL="0" indent="0" algn="l">
              <a:lnSpc>
                <a:spcPct val="90000"/>
              </a:lnSpc>
              <a:buNone/>
            </a:pPr>
            <a:r>
              <a:rPr lang="en-US" sz="13500" b="1" kern="0" spc="-540" dirty="0">
                <a:solidFill>
                  <a:srgbClr val="2A5FD9"/>
                </a:solidFill>
                <a:latin typeface="Arial" pitchFamily="34" charset="0"/>
                <a:ea typeface="Arial" pitchFamily="34" charset="-122"/>
                <a:cs typeface="Arial" pitchFamily="34" charset="-120"/>
              </a:rPr>
              <a:t>3</a:t>
            </a:r>
            <a:endParaRPr lang="en-US" sz="13500" dirty="0"/>
          </a:p>
        </p:txBody>
      </p:sp>
      <p:sp>
        <p:nvSpPr>
          <p:cNvPr id="14" name="Text 12"/>
          <p:cNvSpPr/>
          <p:nvPr/>
        </p:nvSpPr>
        <p:spPr>
          <a:xfrm>
            <a:off x="9429750" y="7415213"/>
            <a:ext cx="3728085" cy="1546860"/>
          </a:xfrm>
          <a:prstGeom prst="rect">
            <a:avLst/>
          </a:prstGeom>
          <a:noFill/>
          <a:ln/>
        </p:spPr>
        <p:txBody>
          <a:bodyPr wrap="square" lIns="25400" tIns="25400" rIns="25400" bIns="25400" rtlCol="0" anchor="t">
            <a:normAutofit/>
          </a:bodyPr>
          <a:lstStyle/>
          <a:p>
            <a:pPr marL="0" indent="0" algn="l">
              <a:lnSpc>
                <a:spcPct val="120000"/>
              </a:lnSpc>
              <a:buNone/>
            </a:pPr>
            <a:r>
              <a:rPr lang="en-US" sz="3300" kern="0" spc="-33" dirty="0">
                <a:solidFill>
                  <a:srgbClr val="F1EDE2"/>
                </a:solidFill>
                <a:latin typeface="Arial" pitchFamily="34" charset="0"/>
                <a:ea typeface="Arial" pitchFamily="34" charset="-122"/>
                <a:cs typeface="Arial" pitchFamily="34" charset="-120"/>
              </a:rPr>
              <a:t>jobs de tests automatiques par push</a:t>
            </a:r>
            <a:endParaRPr lang="en-US" sz="3300" dirty="0"/>
          </a:p>
        </p:txBody>
      </p:sp>
      <p:sp>
        <p:nvSpPr>
          <p:cNvPr id="15" name="Text 13"/>
          <p:cNvSpPr/>
          <p:nvPr/>
        </p:nvSpPr>
        <p:spPr>
          <a:xfrm>
            <a:off x="9429750" y="9095423"/>
            <a:ext cx="3728085"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9AA0AB"/>
                </a:solidFill>
                <a:latin typeface="Courier New" pitchFamily="34" charset="0"/>
                <a:ea typeface="Courier New" pitchFamily="34" charset="-122"/>
                <a:cs typeface="Courier New" pitchFamily="34" charset="-120"/>
              </a:rPr>
              <a:t>backend · ml · frontend</a:t>
            </a:r>
            <a:endParaRPr lang="en-US" sz="1950" dirty="0"/>
          </a:p>
        </p:txBody>
      </p:sp>
      <p:sp>
        <p:nvSpPr>
          <p:cNvPr id="16" name="Text 14"/>
          <p:cNvSpPr/>
          <p:nvPr/>
        </p:nvSpPr>
        <p:spPr>
          <a:xfrm>
            <a:off x="13620750" y="5700713"/>
            <a:ext cx="3728085" cy="1581150"/>
          </a:xfrm>
          <a:prstGeom prst="rect">
            <a:avLst/>
          </a:prstGeom>
          <a:noFill/>
          <a:ln/>
        </p:spPr>
        <p:txBody>
          <a:bodyPr wrap="square" lIns="25400" tIns="25400" rIns="25400" bIns="25400" rtlCol="0" anchor="t">
            <a:normAutofit/>
          </a:bodyPr>
          <a:lstStyle/>
          <a:p>
            <a:pPr marL="0" indent="0" algn="l">
              <a:lnSpc>
                <a:spcPct val="90000"/>
              </a:lnSpc>
              <a:buNone/>
            </a:pPr>
            <a:r>
              <a:rPr lang="en-US" sz="13500" b="1" kern="0" spc="-540" dirty="0">
                <a:solidFill>
                  <a:srgbClr val="2A5FD9"/>
                </a:solidFill>
                <a:latin typeface="Arial" pitchFamily="34" charset="0"/>
                <a:ea typeface="Arial" pitchFamily="34" charset="-122"/>
                <a:cs typeface="Arial" pitchFamily="34" charset="-120"/>
              </a:rPr>
              <a:t>3</a:t>
            </a:r>
            <a:endParaRPr lang="en-US" sz="13500" dirty="0"/>
          </a:p>
        </p:txBody>
      </p:sp>
      <p:sp>
        <p:nvSpPr>
          <p:cNvPr id="17" name="Text 15"/>
          <p:cNvSpPr/>
          <p:nvPr/>
        </p:nvSpPr>
        <p:spPr>
          <a:xfrm>
            <a:off x="13620750" y="7415213"/>
            <a:ext cx="3728085" cy="1546860"/>
          </a:xfrm>
          <a:prstGeom prst="rect">
            <a:avLst/>
          </a:prstGeom>
          <a:noFill/>
          <a:ln/>
        </p:spPr>
        <p:txBody>
          <a:bodyPr wrap="square" lIns="25400" tIns="25400" rIns="25400" bIns="25400" rtlCol="0" anchor="t">
            <a:normAutofit/>
          </a:bodyPr>
          <a:lstStyle/>
          <a:p>
            <a:pPr marL="0" indent="0" algn="l">
              <a:lnSpc>
                <a:spcPct val="120000"/>
              </a:lnSpc>
              <a:buNone/>
            </a:pPr>
            <a:r>
              <a:rPr lang="en-US" sz="3300" kern="0" spc="-33" dirty="0">
                <a:solidFill>
                  <a:srgbClr val="F1EDE2"/>
                </a:solidFill>
                <a:latin typeface="Arial" pitchFamily="34" charset="0"/>
                <a:ea typeface="Arial" pitchFamily="34" charset="-122"/>
                <a:cs typeface="Arial" pitchFamily="34" charset="-120"/>
              </a:rPr>
              <a:t>réseaux isolés pour protéger les données</a:t>
            </a:r>
            <a:endParaRPr lang="en-US" sz="3300" dirty="0"/>
          </a:p>
        </p:txBody>
      </p:sp>
      <p:sp>
        <p:nvSpPr>
          <p:cNvPr id="18" name="Text 16"/>
          <p:cNvSpPr/>
          <p:nvPr/>
        </p:nvSpPr>
        <p:spPr>
          <a:xfrm>
            <a:off x="13620750" y="9095423"/>
            <a:ext cx="3728085"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9AA0AB"/>
                </a:solidFill>
                <a:latin typeface="Courier New" pitchFamily="34" charset="0"/>
                <a:ea typeface="Courier New" pitchFamily="34" charset="-122"/>
                <a:cs typeface="Courier New" pitchFamily="34" charset="-120"/>
              </a:rPr>
              <a:t>public · db · ml</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1047750" y="419100"/>
            <a:ext cx="1063943"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04 — PLAN</a:t>
            </a:r>
            <a:endParaRPr lang="en-US" sz="1350" dirty="0"/>
          </a:p>
        </p:txBody>
      </p:sp>
      <p:sp>
        <p:nvSpPr>
          <p:cNvPr id="3" name="Shape 1"/>
          <p:cNvSpPr/>
          <p:nvPr/>
        </p:nvSpPr>
        <p:spPr>
          <a:xfrm>
            <a:off x="16224290" y="496729"/>
            <a:ext cx="76200" cy="76200"/>
          </a:xfrm>
          <a:prstGeom prst="ellipse">
            <a:avLst/>
          </a:prstGeom>
          <a:solidFill>
            <a:srgbClr val="2A5FD9"/>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04 / 18</a:t>
            </a:r>
            <a:endParaRPr lang="en-US" sz="1350" dirty="0"/>
          </a:p>
        </p:txBody>
      </p:sp>
      <p:sp>
        <p:nvSpPr>
          <p:cNvPr id="5" name="Text 3"/>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LE PLAN DE LA PRÉSENTATION</a:t>
            </a:r>
            <a:endParaRPr lang="en-US" sz="1650" dirty="0"/>
          </a:p>
        </p:txBody>
      </p:sp>
      <p:sp>
        <p:nvSpPr>
          <p:cNvPr id="6" name="Text 4"/>
          <p:cNvSpPr/>
          <p:nvPr/>
        </p:nvSpPr>
        <p:spPr>
          <a:xfrm>
            <a:off x="1047750" y="1368742"/>
            <a:ext cx="16678275" cy="147828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1B1E25"/>
                </a:solidFill>
                <a:latin typeface="Arial" pitchFamily="34" charset="0"/>
                <a:ea typeface="Arial" pitchFamily="34" charset="-122"/>
                <a:cs typeface="Arial" pitchFamily="34" charset="-120"/>
              </a:rPr>
              <a:t>Quatre briques DevOps vues en cours, quatre étapes réellement appliquées au projet.</a:t>
            </a:r>
            <a:endParaRPr lang="en-US" sz="5400" dirty="0"/>
          </a:p>
        </p:txBody>
      </p:sp>
      <p:sp>
        <p:nvSpPr>
          <p:cNvPr id="7" name="Shape 5"/>
          <p:cNvSpPr/>
          <p:nvPr/>
        </p:nvSpPr>
        <p:spPr>
          <a:xfrm>
            <a:off x="1047750" y="6731318"/>
            <a:ext cx="3790950" cy="9525"/>
          </a:xfrm>
          <a:prstGeom prst="rect">
            <a:avLst/>
          </a:prstGeom>
          <a:solidFill>
            <a:srgbClr val="D9D2BF"/>
          </a:solidFill>
          <a:ln/>
        </p:spPr>
      </p:sp>
      <p:sp>
        <p:nvSpPr>
          <p:cNvPr id="8" name="Text 6"/>
          <p:cNvSpPr/>
          <p:nvPr/>
        </p:nvSpPr>
        <p:spPr>
          <a:xfrm>
            <a:off x="1047750" y="7005638"/>
            <a:ext cx="3904678"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65" dirty="0">
                <a:solidFill>
                  <a:srgbClr val="2A5FD9"/>
                </a:solidFill>
                <a:latin typeface="Courier New" pitchFamily="34" charset="0"/>
                <a:ea typeface="Courier New" pitchFamily="34" charset="-122"/>
                <a:cs typeface="Courier New" pitchFamily="34" charset="-120"/>
              </a:rPr>
              <a:t>01 / GITHUB</a:t>
            </a:r>
            <a:endParaRPr lang="en-US" sz="1650" dirty="0"/>
          </a:p>
        </p:txBody>
      </p:sp>
      <p:sp>
        <p:nvSpPr>
          <p:cNvPr id="9" name="Text 7"/>
          <p:cNvSpPr/>
          <p:nvPr/>
        </p:nvSpPr>
        <p:spPr>
          <a:xfrm>
            <a:off x="1047750" y="7459980"/>
            <a:ext cx="3904678" cy="876300"/>
          </a:xfrm>
          <a:prstGeom prst="rect">
            <a:avLst/>
          </a:prstGeom>
          <a:noFill/>
          <a:ln/>
        </p:spPr>
        <p:txBody>
          <a:bodyPr wrap="square" lIns="25400" tIns="25400" rIns="25400" bIns="25400" rtlCol="0" anchor="t">
            <a:normAutofit/>
          </a:bodyPr>
          <a:lstStyle/>
          <a:p>
            <a:pPr marL="0" indent="0" algn="l">
              <a:lnSpc>
                <a:spcPct val="110000"/>
              </a:lnSpc>
              <a:buNone/>
            </a:pPr>
            <a:r>
              <a:rPr lang="en-US" sz="3000" b="1" kern="0" spc="-45" dirty="0">
                <a:solidFill>
                  <a:srgbClr val="1B1E25"/>
                </a:solidFill>
                <a:latin typeface="Arial" pitchFamily="34" charset="0"/>
                <a:ea typeface="Arial" pitchFamily="34" charset="-122"/>
                <a:cs typeface="Arial" pitchFamily="34" charset="-120"/>
              </a:rPr>
              <a:t>Versioning &amp; collaboration</a:t>
            </a:r>
            <a:endParaRPr lang="en-US" sz="3000" dirty="0"/>
          </a:p>
        </p:txBody>
      </p:sp>
      <p:sp>
        <p:nvSpPr>
          <p:cNvPr id="10" name="Text 8"/>
          <p:cNvSpPr/>
          <p:nvPr/>
        </p:nvSpPr>
        <p:spPr>
          <a:xfrm>
            <a:off x="1047750" y="8469630"/>
            <a:ext cx="3904678"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A3E48"/>
                </a:solidFill>
                <a:latin typeface="Arial" pitchFamily="34" charset="0"/>
                <a:ea typeface="Arial" pitchFamily="34" charset="-122"/>
                <a:cs typeface="Arial" pitchFamily="34" charset="-120"/>
              </a:rPr>
              <a:t>Une seule source de vérité pour le code, l'historique et la revue.</a:t>
            </a:r>
            <a:endParaRPr lang="en-US" sz="1800" dirty="0"/>
          </a:p>
        </p:txBody>
      </p:sp>
      <p:sp>
        <p:nvSpPr>
          <p:cNvPr id="11" name="Shape 9"/>
          <p:cNvSpPr/>
          <p:nvPr/>
        </p:nvSpPr>
        <p:spPr>
          <a:xfrm>
            <a:off x="5181600" y="6731318"/>
            <a:ext cx="3790950" cy="9525"/>
          </a:xfrm>
          <a:prstGeom prst="rect">
            <a:avLst/>
          </a:prstGeom>
          <a:solidFill>
            <a:srgbClr val="D9D2BF"/>
          </a:solidFill>
          <a:ln/>
        </p:spPr>
      </p:sp>
      <p:sp>
        <p:nvSpPr>
          <p:cNvPr id="12" name="Text 10"/>
          <p:cNvSpPr/>
          <p:nvPr/>
        </p:nvSpPr>
        <p:spPr>
          <a:xfrm>
            <a:off x="5181600" y="7005638"/>
            <a:ext cx="3904678"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65" dirty="0">
                <a:solidFill>
                  <a:srgbClr val="2A5FD9"/>
                </a:solidFill>
                <a:latin typeface="Courier New" pitchFamily="34" charset="0"/>
                <a:ea typeface="Courier New" pitchFamily="34" charset="-122"/>
                <a:cs typeface="Courier New" pitchFamily="34" charset="-120"/>
              </a:rPr>
              <a:t>02 / IMAGES</a:t>
            </a:r>
            <a:endParaRPr lang="en-US" sz="1650" dirty="0"/>
          </a:p>
        </p:txBody>
      </p:sp>
      <p:sp>
        <p:nvSpPr>
          <p:cNvPr id="13" name="Text 11"/>
          <p:cNvSpPr/>
          <p:nvPr/>
        </p:nvSpPr>
        <p:spPr>
          <a:xfrm>
            <a:off x="5181600" y="7459980"/>
            <a:ext cx="3904678" cy="876300"/>
          </a:xfrm>
          <a:prstGeom prst="rect">
            <a:avLst/>
          </a:prstGeom>
          <a:noFill/>
          <a:ln/>
        </p:spPr>
        <p:txBody>
          <a:bodyPr wrap="square" lIns="25400" tIns="25400" rIns="25400" bIns="25400" rtlCol="0" anchor="t">
            <a:normAutofit/>
          </a:bodyPr>
          <a:lstStyle/>
          <a:p>
            <a:pPr marL="0" indent="0" algn="l">
              <a:lnSpc>
                <a:spcPct val="110000"/>
              </a:lnSpc>
              <a:buNone/>
            </a:pPr>
            <a:r>
              <a:rPr lang="en-US" sz="3000" b="1" kern="0" spc="-45" dirty="0">
                <a:solidFill>
                  <a:srgbClr val="1B1E25"/>
                </a:solidFill>
                <a:latin typeface="Arial" pitchFamily="34" charset="0"/>
                <a:ea typeface="Arial" pitchFamily="34" charset="-122"/>
                <a:cs typeface="Arial" pitchFamily="34" charset="-120"/>
              </a:rPr>
              <a:t>Conteneuriser chaque service</a:t>
            </a:r>
            <a:endParaRPr lang="en-US" sz="3000" dirty="0"/>
          </a:p>
        </p:txBody>
      </p:sp>
      <p:sp>
        <p:nvSpPr>
          <p:cNvPr id="14" name="Text 12"/>
          <p:cNvSpPr/>
          <p:nvPr/>
        </p:nvSpPr>
        <p:spPr>
          <a:xfrm>
            <a:off x="5181600" y="8469630"/>
            <a:ext cx="3904678"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A3E48"/>
                </a:solidFill>
                <a:latin typeface="Arial" pitchFamily="34" charset="0"/>
                <a:ea typeface="Arial" pitchFamily="34" charset="-122"/>
                <a:cs typeface="Arial" pitchFamily="34" charset="-120"/>
              </a:rPr>
              <a:t>Un Dockerfile par service — l'environnement devient un fichier texte.</a:t>
            </a:r>
            <a:endParaRPr lang="en-US" sz="1800" dirty="0"/>
          </a:p>
        </p:txBody>
      </p:sp>
      <p:sp>
        <p:nvSpPr>
          <p:cNvPr id="15" name="Shape 13"/>
          <p:cNvSpPr/>
          <p:nvPr/>
        </p:nvSpPr>
        <p:spPr>
          <a:xfrm>
            <a:off x="9315450" y="6731318"/>
            <a:ext cx="3790950" cy="9525"/>
          </a:xfrm>
          <a:prstGeom prst="rect">
            <a:avLst/>
          </a:prstGeom>
          <a:solidFill>
            <a:srgbClr val="D9D2BF"/>
          </a:solidFill>
          <a:ln/>
        </p:spPr>
      </p:sp>
      <p:sp>
        <p:nvSpPr>
          <p:cNvPr id="16" name="Text 14"/>
          <p:cNvSpPr/>
          <p:nvPr/>
        </p:nvSpPr>
        <p:spPr>
          <a:xfrm>
            <a:off x="9315450" y="7005638"/>
            <a:ext cx="3904678"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65" dirty="0">
                <a:solidFill>
                  <a:srgbClr val="2A5FD9"/>
                </a:solidFill>
                <a:latin typeface="Courier New" pitchFamily="34" charset="0"/>
                <a:ea typeface="Courier New" pitchFamily="34" charset="-122"/>
                <a:cs typeface="Courier New" pitchFamily="34" charset="-120"/>
              </a:rPr>
              <a:t>03 / VOLUMES</a:t>
            </a:r>
            <a:endParaRPr lang="en-US" sz="1650" dirty="0"/>
          </a:p>
        </p:txBody>
      </p:sp>
      <p:sp>
        <p:nvSpPr>
          <p:cNvPr id="17" name="Text 15"/>
          <p:cNvSpPr/>
          <p:nvPr/>
        </p:nvSpPr>
        <p:spPr>
          <a:xfrm>
            <a:off x="9315450" y="7459980"/>
            <a:ext cx="3904678" cy="876300"/>
          </a:xfrm>
          <a:prstGeom prst="rect">
            <a:avLst/>
          </a:prstGeom>
          <a:noFill/>
          <a:ln/>
        </p:spPr>
        <p:txBody>
          <a:bodyPr wrap="square" lIns="25400" tIns="25400" rIns="25400" bIns="25400" rtlCol="0" anchor="t">
            <a:normAutofit/>
          </a:bodyPr>
          <a:lstStyle/>
          <a:p>
            <a:pPr marL="0" indent="0" algn="l">
              <a:lnSpc>
                <a:spcPct val="110000"/>
              </a:lnSpc>
              <a:buNone/>
            </a:pPr>
            <a:r>
              <a:rPr lang="en-US" sz="3000" b="1" kern="0" spc="-45" dirty="0">
                <a:solidFill>
                  <a:srgbClr val="1B1E25"/>
                </a:solidFill>
                <a:latin typeface="Arial" pitchFamily="34" charset="0"/>
                <a:ea typeface="Arial" pitchFamily="34" charset="-122"/>
                <a:cs typeface="Arial" pitchFamily="34" charset="-120"/>
              </a:rPr>
              <a:t>Persister les données</a:t>
            </a:r>
            <a:endParaRPr lang="en-US" sz="3000" dirty="0"/>
          </a:p>
        </p:txBody>
      </p:sp>
      <p:sp>
        <p:nvSpPr>
          <p:cNvPr id="18" name="Text 16"/>
          <p:cNvSpPr/>
          <p:nvPr/>
        </p:nvSpPr>
        <p:spPr>
          <a:xfrm>
            <a:off x="9315450" y="8469630"/>
            <a:ext cx="3904678"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A3E48"/>
                </a:solidFill>
                <a:latin typeface="Arial" pitchFamily="34" charset="0"/>
                <a:ea typeface="Arial" pitchFamily="34" charset="-122"/>
                <a:cs typeface="Arial" pitchFamily="34" charset="-120"/>
              </a:rPr>
              <a:t>La base et les modèles ML survivent aux redémarrages des conteneurs.</a:t>
            </a:r>
            <a:endParaRPr lang="en-US" sz="1800" dirty="0"/>
          </a:p>
        </p:txBody>
      </p:sp>
      <p:sp>
        <p:nvSpPr>
          <p:cNvPr id="19" name="Shape 17"/>
          <p:cNvSpPr/>
          <p:nvPr/>
        </p:nvSpPr>
        <p:spPr>
          <a:xfrm>
            <a:off x="13449300" y="6731318"/>
            <a:ext cx="3790950" cy="9525"/>
          </a:xfrm>
          <a:prstGeom prst="rect">
            <a:avLst/>
          </a:prstGeom>
          <a:solidFill>
            <a:srgbClr val="D9D2BF"/>
          </a:solidFill>
          <a:ln/>
        </p:spPr>
      </p:sp>
      <p:sp>
        <p:nvSpPr>
          <p:cNvPr id="20" name="Text 18"/>
          <p:cNvSpPr/>
          <p:nvPr/>
        </p:nvSpPr>
        <p:spPr>
          <a:xfrm>
            <a:off x="13449300" y="7005638"/>
            <a:ext cx="3904678"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65" dirty="0">
                <a:solidFill>
                  <a:srgbClr val="2A5FD9"/>
                </a:solidFill>
                <a:latin typeface="Courier New" pitchFamily="34" charset="0"/>
                <a:ea typeface="Courier New" pitchFamily="34" charset="-122"/>
                <a:cs typeface="Courier New" pitchFamily="34" charset="-120"/>
              </a:rPr>
              <a:t>04 / NETWORKS</a:t>
            </a:r>
            <a:endParaRPr lang="en-US" sz="1650" dirty="0"/>
          </a:p>
        </p:txBody>
      </p:sp>
      <p:sp>
        <p:nvSpPr>
          <p:cNvPr id="21" name="Text 19"/>
          <p:cNvSpPr/>
          <p:nvPr/>
        </p:nvSpPr>
        <p:spPr>
          <a:xfrm>
            <a:off x="13449300" y="7459980"/>
            <a:ext cx="3904678" cy="457200"/>
          </a:xfrm>
          <a:prstGeom prst="rect">
            <a:avLst/>
          </a:prstGeom>
          <a:noFill/>
          <a:ln/>
        </p:spPr>
        <p:txBody>
          <a:bodyPr wrap="square" lIns="25400" tIns="25400" rIns="25400" bIns="25400" rtlCol="0" anchor="t">
            <a:normAutofit/>
          </a:bodyPr>
          <a:lstStyle/>
          <a:p>
            <a:pPr marL="0" indent="0" algn="l">
              <a:lnSpc>
                <a:spcPct val="110000"/>
              </a:lnSpc>
              <a:buNone/>
            </a:pPr>
            <a:r>
              <a:rPr lang="en-US" sz="3000" b="1" kern="0" spc="-45" dirty="0">
                <a:solidFill>
                  <a:srgbClr val="1B1E25"/>
                </a:solidFill>
                <a:latin typeface="Arial" pitchFamily="34" charset="0"/>
                <a:ea typeface="Arial" pitchFamily="34" charset="-122"/>
                <a:cs typeface="Arial" pitchFamily="34" charset="-120"/>
              </a:rPr>
              <a:t>Isoler les services</a:t>
            </a:r>
            <a:endParaRPr lang="en-US" sz="3000" dirty="0"/>
          </a:p>
        </p:txBody>
      </p:sp>
      <p:sp>
        <p:nvSpPr>
          <p:cNvPr id="22" name="Text 20"/>
          <p:cNvSpPr/>
          <p:nvPr/>
        </p:nvSpPr>
        <p:spPr>
          <a:xfrm>
            <a:off x="13449300" y="8050530"/>
            <a:ext cx="3904678"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A3E48"/>
                </a:solidFill>
                <a:latin typeface="Arial" pitchFamily="34" charset="0"/>
                <a:ea typeface="Arial" pitchFamily="34" charset="-122"/>
                <a:cs typeface="Arial" pitchFamily="34" charset="-120"/>
              </a:rPr>
              <a:t>La base et le ML sont invisibles depuis l'extérieur — par construction.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1047750" y="419100"/>
            <a:ext cx="1941909"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05 — ARCHITECTURE</a:t>
            </a:r>
            <a:endParaRPr lang="en-US" sz="1350" dirty="0"/>
          </a:p>
        </p:txBody>
      </p:sp>
      <p:sp>
        <p:nvSpPr>
          <p:cNvPr id="3" name="Shape 1"/>
          <p:cNvSpPr/>
          <p:nvPr/>
        </p:nvSpPr>
        <p:spPr>
          <a:xfrm>
            <a:off x="16224290" y="496729"/>
            <a:ext cx="76200" cy="76200"/>
          </a:xfrm>
          <a:prstGeom prst="ellipse">
            <a:avLst/>
          </a:prstGeom>
          <a:solidFill>
            <a:srgbClr val="2A5FD9"/>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05 / 18</a:t>
            </a:r>
            <a:endParaRPr lang="en-US" sz="1350" dirty="0"/>
          </a:p>
        </p:txBody>
      </p:sp>
      <p:sp>
        <p:nvSpPr>
          <p:cNvPr id="5" name="Text 3"/>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VUE D'ENSEMBLE</a:t>
            </a:r>
            <a:endParaRPr lang="en-US" sz="1650" dirty="0"/>
          </a:p>
        </p:txBody>
      </p:sp>
      <p:sp>
        <p:nvSpPr>
          <p:cNvPr id="6" name="Text 4"/>
          <p:cNvSpPr/>
          <p:nvPr/>
        </p:nvSpPr>
        <p:spPr>
          <a:xfrm>
            <a:off x="1047750" y="1368742"/>
            <a:ext cx="16678275" cy="147828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1B1E25"/>
                </a:solidFill>
                <a:latin typeface="Arial" pitchFamily="34" charset="0"/>
                <a:ea typeface="Arial" pitchFamily="34" charset="-122"/>
                <a:cs typeface="Arial" pitchFamily="34" charset="-120"/>
              </a:rPr>
              <a:t>Cinq conteneurs, trois réseaux, deux volumes persistants.</a:t>
            </a:r>
            <a:endParaRPr lang="en-US" sz="5400" dirty="0"/>
          </a:p>
        </p:txBody>
      </p:sp>
      <p:pic>
        <p:nvPicPr>
          <p:cNvPr id="7" name="Image 0" descr="preencoded.png"/>
          <p:cNvPicPr>
            <a:picLocks noChangeAspect="1"/>
          </p:cNvPicPr>
          <p:nvPr/>
        </p:nvPicPr>
        <p:blipFill>
          <a:blip r:embed="rId3"/>
          <a:stretch>
            <a:fillRect/>
          </a:stretch>
        </p:blipFill>
        <p:spPr>
          <a:xfrm>
            <a:off x="1047750" y="3647599"/>
            <a:ext cx="16192500" cy="56673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217"/>
        </a:solidFill>
        <a:effectLst/>
      </p:bgPr>
    </p:bg>
    <p:spTree>
      <p:nvGrpSpPr>
        <p:cNvPr id="1" name=""/>
        <p:cNvGrpSpPr/>
        <p:nvPr/>
      </p:nvGrpSpPr>
      <p:grpSpPr>
        <a:xfrm>
          <a:off x="0" y="0"/>
          <a:ext cx="0" cy="0"/>
          <a:chOff x="0" y="0"/>
          <a:chExt cx="0" cy="0"/>
        </a:xfrm>
      </p:grpSpPr>
      <p:sp>
        <p:nvSpPr>
          <p:cNvPr id="2" name="Text 0"/>
          <p:cNvSpPr/>
          <p:nvPr/>
        </p:nvSpPr>
        <p:spPr>
          <a:xfrm>
            <a:off x="1047750" y="419100"/>
            <a:ext cx="139315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9AA0AB"/>
                </a:solidFill>
                <a:latin typeface="Courier New" pitchFamily="34" charset="0"/>
                <a:ea typeface="Courier New" pitchFamily="34" charset="-122"/>
                <a:cs typeface="Courier New" pitchFamily="34" charset="-120"/>
              </a:rPr>
              <a:t>06 — ÉTAPE 1</a:t>
            </a:r>
            <a:endParaRPr lang="en-US" sz="1350" dirty="0"/>
          </a:p>
        </p:txBody>
      </p:sp>
      <p:sp>
        <p:nvSpPr>
          <p:cNvPr id="3" name="Shape 1"/>
          <p:cNvSpPr/>
          <p:nvPr/>
        </p:nvSpPr>
        <p:spPr>
          <a:xfrm>
            <a:off x="16224290" y="496729"/>
            <a:ext cx="76200" cy="76200"/>
          </a:xfrm>
          <a:prstGeom prst="ellipse">
            <a:avLst/>
          </a:prstGeom>
          <a:solidFill>
            <a:srgbClr val="F1EDE2"/>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9AA0AB"/>
                </a:solidFill>
                <a:latin typeface="Courier New" pitchFamily="34" charset="0"/>
                <a:ea typeface="Courier New" pitchFamily="34" charset="-122"/>
                <a:cs typeface="Courier New" pitchFamily="34" charset="-120"/>
              </a:rPr>
              <a:t>06 / 18</a:t>
            </a:r>
            <a:endParaRPr lang="en-US" sz="1350" dirty="0"/>
          </a:p>
        </p:txBody>
      </p:sp>
      <p:sp>
        <p:nvSpPr>
          <p:cNvPr id="5" name="Text 3"/>
          <p:cNvSpPr/>
          <p:nvPr/>
        </p:nvSpPr>
        <p:spPr>
          <a:xfrm>
            <a:off x="1047750" y="3145155"/>
            <a:ext cx="3296903" cy="449580"/>
          </a:xfrm>
          <a:prstGeom prst="rect">
            <a:avLst/>
          </a:prstGeom>
          <a:noFill/>
          <a:ln/>
        </p:spPr>
        <p:txBody>
          <a:bodyPr wrap="square" lIns="25400" tIns="25400" rIns="25400" bIns="25400" rtlCol="0" anchor="t">
            <a:normAutofit/>
          </a:bodyPr>
          <a:lstStyle/>
          <a:p>
            <a:pPr marL="0" indent="0" algn="l">
              <a:lnSpc>
                <a:spcPct val="135000"/>
              </a:lnSpc>
              <a:buNone/>
            </a:pPr>
            <a:r>
              <a:rPr lang="en-US" sz="2400" kern="0" spc="240" dirty="0">
                <a:solidFill>
                  <a:srgbClr val="2A5FD9"/>
                </a:solidFill>
                <a:latin typeface="Courier New" pitchFamily="34" charset="0"/>
                <a:ea typeface="Courier New" pitchFamily="34" charset="-122"/>
                <a:cs typeface="Courier New" pitchFamily="34" charset="-120"/>
              </a:rPr>
              <a:t>01 — VERSIONING</a:t>
            </a:r>
            <a:endParaRPr lang="en-US" sz="2400" dirty="0"/>
          </a:p>
        </p:txBody>
      </p:sp>
      <p:sp>
        <p:nvSpPr>
          <p:cNvPr id="6" name="Text 4"/>
          <p:cNvSpPr/>
          <p:nvPr/>
        </p:nvSpPr>
        <p:spPr>
          <a:xfrm>
            <a:off x="1047750" y="3937635"/>
            <a:ext cx="4044482" cy="1203960"/>
          </a:xfrm>
          <a:prstGeom prst="rect">
            <a:avLst/>
          </a:prstGeom>
          <a:noFill/>
          <a:ln/>
        </p:spPr>
        <p:txBody>
          <a:bodyPr wrap="square" lIns="25400" tIns="25400" rIns="25400" bIns="25400" rtlCol="0" anchor="t">
            <a:normAutofit/>
          </a:bodyPr>
          <a:lstStyle/>
          <a:p>
            <a:pPr marL="0" indent="0" algn="l">
              <a:lnSpc>
                <a:spcPct val="102000"/>
              </a:lnSpc>
              <a:buNone/>
            </a:pPr>
            <a:r>
              <a:rPr lang="en-US" sz="9000" b="1" kern="0" spc="-225" dirty="0">
                <a:solidFill>
                  <a:srgbClr val="F1EDE2"/>
                </a:solidFill>
                <a:latin typeface="Arial" pitchFamily="34" charset="0"/>
                <a:ea typeface="Arial" pitchFamily="34" charset="-122"/>
                <a:cs typeface="Arial" pitchFamily="34" charset="-120"/>
              </a:rPr>
              <a:t>GitHub.</a:t>
            </a:r>
            <a:endParaRPr lang="en-US" sz="9000" dirty="0"/>
          </a:p>
        </p:txBody>
      </p:sp>
      <p:sp>
        <p:nvSpPr>
          <p:cNvPr id="7" name="Text 5"/>
          <p:cNvSpPr/>
          <p:nvPr/>
        </p:nvSpPr>
        <p:spPr>
          <a:xfrm>
            <a:off x="1047750" y="5713095"/>
            <a:ext cx="11772900" cy="1524000"/>
          </a:xfrm>
          <a:prstGeom prst="rect">
            <a:avLst/>
          </a:prstGeom>
          <a:noFill/>
          <a:ln/>
        </p:spPr>
        <p:txBody>
          <a:bodyPr wrap="square" lIns="25400" tIns="25400" rIns="25400" bIns="25400" rtlCol="0" anchor="t">
            <a:normAutofit/>
          </a:bodyPr>
          <a:lstStyle/>
          <a:p>
            <a:pPr marL="0" indent="0" algn="l">
              <a:lnSpc>
                <a:spcPct val="130000"/>
              </a:lnSpc>
              <a:buNone/>
            </a:pPr>
            <a:r>
              <a:rPr lang="en-US" sz="3000" dirty="0">
                <a:solidFill>
                  <a:srgbClr val="9AA0AB"/>
                </a:solidFill>
                <a:latin typeface="Arial" pitchFamily="34" charset="0"/>
                <a:ea typeface="Arial" pitchFamily="34" charset="-122"/>
                <a:cs typeface="Arial" pitchFamily="34" charset="-120"/>
              </a:rPr>
              <a:t>Tout le code dans un seul repository. Tout l'historique. Toute la revue. Et trois personnes qui travaillent en parallèle sans se marcher dessus.</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1047750" y="419100"/>
            <a:ext cx="2490668"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06 · GITHUB / WORKFLOW</a:t>
            </a:r>
            <a:endParaRPr lang="en-US" sz="1350" dirty="0"/>
          </a:p>
        </p:txBody>
      </p:sp>
      <p:sp>
        <p:nvSpPr>
          <p:cNvPr id="3" name="Shape 1"/>
          <p:cNvSpPr/>
          <p:nvPr/>
        </p:nvSpPr>
        <p:spPr>
          <a:xfrm>
            <a:off x="16224290" y="496729"/>
            <a:ext cx="76200" cy="76200"/>
          </a:xfrm>
          <a:prstGeom prst="ellipse">
            <a:avLst/>
          </a:prstGeom>
          <a:solidFill>
            <a:srgbClr val="2A5FD9"/>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07 / 18</a:t>
            </a:r>
            <a:endParaRPr lang="en-US" sz="1350" dirty="0"/>
          </a:p>
        </p:txBody>
      </p:sp>
      <p:sp>
        <p:nvSpPr>
          <p:cNvPr id="5" name="Text 3"/>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COMMENT ON TRAVAILLE À TROIS</a:t>
            </a:r>
            <a:endParaRPr lang="en-US" sz="1650" dirty="0"/>
          </a:p>
        </p:txBody>
      </p:sp>
      <p:sp>
        <p:nvSpPr>
          <p:cNvPr id="6" name="Text 4"/>
          <p:cNvSpPr/>
          <p:nvPr/>
        </p:nvSpPr>
        <p:spPr>
          <a:xfrm>
            <a:off x="1047750" y="1368742"/>
            <a:ext cx="16678275" cy="147828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1B1E25"/>
                </a:solidFill>
                <a:latin typeface="Arial" pitchFamily="34" charset="0"/>
                <a:ea typeface="Arial" pitchFamily="34" charset="-122"/>
                <a:cs typeface="Arial" pitchFamily="34" charset="-120"/>
              </a:rPr>
              <a:t>Une branche par feature, une PR par merge, main toujours déployable.</a:t>
            </a:r>
            <a:endParaRPr lang="en-US" sz="5400" dirty="0"/>
          </a:p>
        </p:txBody>
      </p:sp>
      <p:pic>
        <p:nvPicPr>
          <p:cNvPr id="7" name="Image 0" descr="preencoded.png"/>
          <p:cNvPicPr>
            <a:picLocks noChangeAspect="1"/>
          </p:cNvPicPr>
          <p:nvPr/>
        </p:nvPicPr>
        <p:blipFill>
          <a:blip r:embed="rId3"/>
          <a:stretch>
            <a:fillRect/>
          </a:stretch>
        </p:blipFill>
        <p:spPr>
          <a:xfrm>
            <a:off x="2000250" y="4440079"/>
            <a:ext cx="14287500" cy="3429000"/>
          </a:xfrm>
          <a:prstGeom prst="rect">
            <a:avLst/>
          </a:prstGeom>
        </p:spPr>
      </p:pic>
      <p:sp>
        <p:nvSpPr>
          <p:cNvPr id="8" name="Shape 5"/>
          <p:cNvSpPr/>
          <p:nvPr/>
        </p:nvSpPr>
        <p:spPr>
          <a:xfrm>
            <a:off x="1047750" y="8966835"/>
            <a:ext cx="2568297" cy="462915"/>
          </a:xfrm>
          <a:prstGeom prst="roundRect">
            <a:avLst>
              <a:gd name="adj" fmla="val 50000"/>
            </a:avLst>
          </a:prstGeom>
          <a:solidFill>
            <a:srgbClr val="F6F2E9"/>
          </a:solidFill>
          <a:ln w="7620">
            <a:solidFill>
              <a:srgbClr val="D9D2BF"/>
            </a:solidFill>
            <a:prstDash val="solid"/>
          </a:ln>
        </p:spPr>
      </p:sp>
      <p:sp>
        <p:nvSpPr>
          <p:cNvPr id="9" name="Shape 6"/>
          <p:cNvSpPr/>
          <p:nvPr/>
        </p:nvSpPr>
        <p:spPr>
          <a:xfrm>
            <a:off x="1226820" y="9160193"/>
            <a:ext cx="76200" cy="76200"/>
          </a:xfrm>
          <a:prstGeom prst="ellipse">
            <a:avLst/>
          </a:prstGeom>
          <a:solidFill>
            <a:srgbClr val="2A5FD9"/>
          </a:solidFill>
          <a:ln/>
        </p:spPr>
      </p:sp>
      <p:sp>
        <p:nvSpPr>
          <p:cNvPr id="10" name="Text 7"/>
          <p:cNvSpPr/>
          <p:nvPr/>
        </p:nvSpPr>
        <p:spPr>
          <a:xfrm>
            <a:off x="1379220" y="9084945"/>
            <a:ext cx="2133957" cy="259080"/>
          </a:xfrm>
          <a:prstGeom prst="rect">
            <a:avLst/>
          </a:prstGeom>
          <a:noFill/>
          <a:ln/>
        </p:spPr>
        <p:txBody>
          <a:bodyPr wrap="square" lIns="0" tIns="0" rIns="0" bIns="0" rtlCol="0" anchor="t">
            <a:normAutofit/>
          </a:bodyPr>
          <a:lstStyle/>
          <a:p>
            <a:pPr marL="0" indent="0" algn="l">
              <a:lnSpc>
                <a:spcPct val="135000"/>
              </a:lnSpc>
              <a:buNone/>
            </a:pPr>
            <a:r>
              <a:rPr lang="en-US" sz="1500" dirty="0">
                <a:solidFill>
                  <a:srgbClr val="3A3E48"/>
                </a:solidFill>
                <a:latin typeface="Courier New" pitchFamily="34" charset="0"/>
                <a:ea typeface="Courier New" pitchFamily="34" charset="-122"/>
                <a:cs typeface="Courier New" pitchFamily="34" charset="-120"/>
              </a:rPr>
              <a:t>1. Branche feature</a:t>
            </a:r>
            <a:endParaRPr lang="en-US" sz="1500" dirty="0"/>
          </a:p>
        </p:txBody>
      </p:sp>
      <p:sp>
        <p:nvSpPr>
          <p:cNvPr id="11" name="Shape 8"/>
          <p:cNvSpPr/>
          <p:nvPr/>
        </p:nvSpPr>
        <p:spPr>
          <a:xfrm>
            <a:off x="3920847" y="8966835"/>
            <a:ext cx="2797016" cy="462915"/>
          </a:xfrm>
          <a:prstGeom prst="roundRect">
            <a:avLst>
              <a:gd name="adj" fmla="val 50000"/>
            </a:avLst>
          </a:prstGeom>
          <a:solidFill>
            <a:srgbClr val="F6F2E9"/>
          </a:solidFill>
          <a:ln w="7620">
            <a:solidFill>
              <a:srgbClr val="D9D2BF"/>
            </a:solidFill>
            <a:prstDash val="solid"/>
          </a:ln>
        </p:spPr>
      </p:sp>
      <p:sp>
        <p:nvSpPr>
          <p:cNvPr id="12" name="Shape 9"/>
          <p:cNvSpPr/>
          <p:nvPr/>
        </p:nvSpPr>
        <p:spPr>
          <a:xfrm>
            <a:off x="4099917" y="9160193"/>
            <a:ext cx="76200" cy="76200"/>
          </a:xfrm>
          <a:prstGeom prst="ellipse">
            <a:avLst/>
          </a:prstGeom>
          <a:solidFill>
            <a:srgbClr val="2A5FD9"/>
          </a:solidFill>
          <a:ln/>
        </p:spPr>
      </p:sp>
      <p:sp>
        <p:nvSpPr>
          <p:cNvPr id="13" name="Text 10"/>
          <p:cNvSpPr/>
          <p:nvPr/>
        </p:nvSpPr>
        <p:spPr>
          <a:xfrm>
            <a:off x="4252317" y="9084945"/>
            <a:ext cx="2362676" cy="259080"/>
          </a:xfrm>
          <a:prstGeom prst="rect">
            <a:avLst/>
          </a:prstGeom>
          <a:noFill/>
          <a:ln/>
        </p:spPr>
        <p:txBody>
          <a:bodyPr wrap="square" lIns="0" tIns="0" rIns="0" bIns="0" rtlCol="0" anchor="t">
            <a:normAutofit/>
          </a:bodyPr>
          <a:lstStyle/>
          <a:p>
            <a:pPr marL="0" indent="0" algn="l">
              <a:lnSpc>
                <a:spcPct val="135000"/>
              </a:lnSpc>
              <a:buNone/>
            </a:pPr>
            <a:r>
              <a:rPr lang="en-US" sz="1500" dirty="0">
                <a:solidFill>
                  <a:srgbClr val="3A3E48"/>
                </a:solidFill>
                <a:latin typeface="Courier New" pitchFamily="34" charset="0"/>
                <a:ea typeface="Courier New" pitchFamily="34" charset="-122"/>
                <a:cs typeface="Courier New" pitchFamily="34" charset="-120"/>
              </a:rPr>
              <a:t>2. Commits réguliers</a:t>
            </a:r>
            <a:endParaRPr lang="en-US" sz="1500" dirty="0"/>
          </a:p>
        </p:txBody>
      </p:sp>
      <p:sp>
        <p:nvSpPr>
          <p:cNvPr id="14" name="Shape 11"/>
          <p:cNvSpPr/>
          <p:nvPr/>
        </p:nvSpPr>
        <p:spPr>
          <a:xfrm>
            <a:off x="7022664" y="8966835"/>
            <a:ext cx="3254216" cy="462915"/>
          </a:xfrm>
          <a:prstGeom prst="roundRect">
            <a:avLst>
              <a:gd name="adj" fmla="val 50000"/>
            </a:avLst>
          </a:prstGeom>
          <a:solidFill>
            <a:srgbClr val="F6F2E9"/>
          </a:solidFill>
          <a:ln w="7620">
            <a:solidFill>
              <a:srgbClr val="D9D2BF"/>
            </a:solidFill>
            <a:prstDash val="solid"/>
          </a:ln>
        </p:spPr>
      </p:sp>
      <p:sp>
        <p:nvSpPr>
          <p:cNvPr id="15" name="Shape 12"/>
          <p:cNvSpPr/>
          <p:nvPr/>
        </p:nvSpPr>
        <p:spPr>
          <a:xfrm>
            <a:off x="7201734" y="9160193"/>
            <a:ext cx="76200" cy="76200"/>
          </a:xfrm>
          <a:prstGeom prst="ellipse">
            <a:avLst/>
          </a:prstGeom>
          <a:solidFill>
            <a:srgbClr val="2A5FD9"/>
          </a:solidFill>
          <a:ln/>
        </p:spPr>
      </p:sp>
      <p:sp>
        <p:nvSpPr>
          <p:cNvPr id="16" name="Text 13"/>
          <p:cNvSpPr/>
          <p:nvPr/>
        </p:nvSpPr>
        <p:spPr>
          <a:xfrm>
            <a:off x="7354134" y="9084945"/>
            <a:ext cx="2825987" cy="259080"/>
          </a:xfrm>
          <a:prstGeom prst="rect">
            <a:avLst/>
          </a:prstGeom>
          <a:noFill/>
          <a:ln/>
        </p:spPr>
        <p:txBody>
          <a:bodyPr wrap="square" lIns="0" tIns="0" rIns="0" bIns="0" rtlCol="0" anchor="t">
            <a:normAutofit/>
          </a:bodyPr>
          <a:lstStyle/>
          <a:p>
            <a:pPr marL="0" indent="0" algn="l">
              <a:lnSpc>
                <a:spcPct val="135000"/>
              </a:lnSpc>
              <a:buNone/>
            </a:pPr>
            <a:r>
              <a:rPr lang="en-US" sz="1500" dirty="0">
                <a:solidFill>
                  <a:srgbClr val="3A3E48"/>
                </a:solidFill>
                <a:latin typeface="Courier New" pitchFamily="34" charset="0"/>
                <a:ea typeface="Courier New" pitchFamily="34" charset="-122"/>
                <a:cs typeface="Courier New" pitchFamily="34" charset="-120"/>
              </a:rPr>
              <a:t>3. Pull request + review</a:t>
            </a:r>
            <a:endParaRPr lang="en-US" sz="1500" dirty="0"/>
          </a:p>
        </p:txBody>
      </p:sp>
      <p:sp>
        <p:nvSpPr>
          <p:cNvPr id="17" name="Shape 14"/>
          <p:cNvSpPr/>
          <p:nvPr/>
        </p:nvSpPr>
        <p:spPr>
          <a:xfrm>
            <a:off x="10581680" y="8966835"/>
            <a:ext cx="2453997" cy="462915"/>
          </a:xfrm>
          <a:prstGeom prst="roundRect">
            <a:avLst>
              <a:gd name="adj" fmla="val 50000"/>
            </a:avLst>
          </a:prstGeom>
          <a:solidFill>
            <a:srgbClr val="F6F2E9"/>
          </a:solidFill>
          <a:ln w="7620">
            <a:solidFill>
              <a:srgbClr val="D9D2BF"/>
            </a:solidFill>
            <a:prstDash val="solid"/>
          </a:ln>
        </p:spPr>
      </p:sp>
      <p:sp>
        <p:nvSpPr>
          <p:cNvPr id="18" name="Shape 15"/>
          <p:cNvSpPr/>
          <p:nvPr/>
        </p:nvSpPr>
        <p:spPr>
          <a:xfrm>
            <a:off x="10760750" y="9160193"/>
            <a:ext cx="76200" cy="76200"/>
          </a:xfrm>
          <a:prstGeom prst="ellipse">
            <a:avLst/>
          </a:prstGeom>
          <a:solidFill>
            <a:srgbClr val="2A5FD9"/>
          </a:solidFill>
          <a:ln/>
        </p:spPr>
      </p:sp>
      <p:sp>
        <p:nvSpPr>
          <p:cNvPr id="19" name="Text 16"/>
          <p:cNvSpPr/>
          <p:nvPr/>
        </p:nvSpPr>
        <p:spPr>
          <a:xfrm>
            <a:off x="10913150" y="9084945"/>
            <a:ext cx="2019657" cy="259080"/>
          </a:xfrm>
          <a:prstGeom prst="rect">
            <a:avLst/>
          </a:prstGeom>
          <a:noFill/>
          <a:ln/>
        </p:spPr>
        <p:txBody>
          <a:bodyPr wrap="square" lIns="0" tIns="0" rIns="0" bIns="0" rtlCol="0" anchor="t">
            <a:normAutofit/>
          </a:bodyPr>
          <a:lstStyle/>
          <a:p>
            <a:pPr marL="0" indent="0" algn="l">
              <a:lnSpc>
                <a:spcPct val="135000"/>
              </a:lnSpc>
              <a:buNone/>
            </a:pPr>
            <a:r>
              <a:rPr lang="en-US" sz="1500" dirty="0">
                <a:solidFill>
                  <a:srgbClr val="3A3E48"/>
                </a:solidFill>
                <a:latin typeface="Courier New" pitchFamily="34" charset="0"/>
                <a:ea typeface="Courier New" pitchFamily="34" charset="-122"/>
                <a:cs typeface="Courier New" pitchFamily="34" charset="-120"/>
              </a:rPr>
              <a:t>4. Merge sur main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1047750" y="419100"/>
            <a:ext cx="1832134"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06 · GITHUB / CI</a:t>
            </a:r>
            <a:endParaRPr lang="en-US" sz="1350" dirty="0"/>
          </a:p>
        </p:txBody>
      </p:sp>
      <p:sp>
        <p:nvSpPr>
          <p:cNvPr id="3" name="Shape 1"/>
          <p:cNvSpPr/>
          <p:nvPr/>
        </p:nvSpPr>
        <p:spPr>
          <a:xfrm>
            <a:off x="16224290" y="496729"/>
            <a:ext cx="76200" cy="76200"/>
          </a:xfrm>
          <a:prstGeom prst="ellipse">
            <a:avLst/>
          </a:prstGeom>
          <a:solidFill>
            <a:srgbClr val="2A5FD9"/>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08 / 18</a:t>
            </a:r>
            <a:endParaRPr lang="en-US" sz="1350" dirty="0"/>
          </a:p>
        </p:txBody>
      </p:sp>
      <p:sp>
        <p:nvSpPr>
          <p:cNvPr id="5" name="Text 3"/>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INTÉGRATION CONTINUE — GITHUB ACTIONS</a:t>
            </a:r>
            <a:endParaRPr lang="en-US" sz="1650" dirty="0"/>
          </a:p>
        </p:txBody>
      </p:sp>
      <p:sp>
        <p:nvSpPr>
          <p:cNvPr id="6" name="Text 4"/>
          <p:cNvSpPr/>
          <p:nvPr/>
        </p:nvSpPr>
        <p:spPr>
          <a:xfrm>
            <a:off x="1047750" y="1368742"/>
            <a:ext cx="16678275" cy="147828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1B1E25"/>
                </a:solidFill>
                <a:latin typeface="Arial" pitchFamily="34" charset="0"/>
                <a:ea typeface="Arial" pitchFamily="34" charset="-122"/>
                <a:cs typeface="Arial" pitchFamily="34" charset="-120"/>
              </a:rPr>
              <a:t>À chaque push, trois jobs en parallèle. Si un test casse, on le voit avant de merger.</a:t>
            </a:r>
            <a:endParaRPr lang="en-US" sz="5400" dirty="0"/>
          </a:p>
        </p:txBody>
      </p:sp>
      <p:sp>
        <p:nvSpPr>
          <p:cNvPr id="7" name="Shape 5"/>
          <p:cNvSpPr/>
          <p:nvPr/>
        </p:nvSpPr>
        <p:spPr>
          <a:xfrm>
            <a:off x="1047750" y="3342322"/>
            <a:ext cx="5168861" cy="5410200"/>
          </a:xfrm>
          <a:prstGeom prst="roundRect">
            <a:avLst>
              <a:gd name="adj" fmla="val 3317"/>
            </a:avLst>
          </a:prstGeom>
          <a:solidFill>
            <a:srgbClr val="ECE6D6"/>
          </a:solidFill>
          <a:ln/>
        </p:spPr>
      </p:sp>
      <p:sp>
        <p:nvSpPr>
          <p:cNvPr id="8" name="Text 6"/>
          <p:cNvSpPr/>
          <p:nvPr/>
        </p:nvSpPr>
        <p:spPr>
          <a:xfrm>
            <a:off x="1466850" y="3723322"/>
            <a:ext cx="4460580"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JOB 01</a:t>
            </a:r>
            <a:endParaRPr lang="en-US" sz="1950" dirty="0"/>
          </a:p>
        </p:txBody>
      </p:sp>
      <p:sp>
        <p:nvSpPr>
          <p:cNvPr id="9" name="Text 7"/>
          <p:cNvSpPr/>
          <p:nvPr/>
        </p:nvSpPr>
        <p:spPr>
          <a:xfrm>
            <a:off x="1466850" y="4229100"/>
            <a:ext cx="4460580" cy="526732"/>
          </a:xfrm>
          <a:prstGeom prst="rect">
            <a:avLst/>
          </a:prstGeom>
          <a:noFill/>
          <a:ln/>
        </p:spPr>
        <p:txBody>
          <a:bodyPr wrap="square" lIns="25400" tIns="25400" rIns="25400" bIns="25400" rtlCol="0" anchor="t">
            <a:normAutofit/>
          </a:bodyPr>
          <a:lstStyle/>
          <a:p>
            <a:pPr marL="0" indent="0" algn="l">
              <a:lnSpc>
                <a:spcPct val="135000"/>
              </a:lnSpc>
              <a:buNone/>
            </a:pPr>
            <a:r>
              <a:rPr lang="en-US" sz="2850" b="1" kern="0" spc="-43" dirty="0">
                <a:solidFill>
                  <a:srgbClr val="1B1E25"/>
                </a:solidFill>
                <a:latin typeface="Arial" pitchFamily="34" charset="0"/>
                <a:ea typeface="Arial" pitchFamily="34" charset="-122"/>
                <a:cs typeface="Arial" pitchFamily="34" charset="-120"/>
              </a:rPr>
              <a:t>Backend</a:t>
            </a:r>
            <a:endParaRPr lang="en-US" sz="2850" dirty="0"/>
          </a:p>
        </p:txBody>
      </p:sp>
      <p:sp>
        <p:nvSpPr>
          <p:cNvPr id="10" name="Text 8"/>
          <p:cNvSpPr/>
          <p:nvPr/>
        </p:nvSpPr>
        <p:spPr>
          <a:xfrm>
            <a:off x="1466850" y="4889182"/>
            <a:ext cx="4460580"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3A3E48"/>
                </a:solidFill>
                <a:latin typeface="Arial" pitchFamily="34" charset="0"/>
                <a:ea typeface="Arial" pitchFamily="34" charset="-122"/>
                <a:cs typeface="Arial" pitchFamily="34" charset="-120"/>
              </a:rPr>
              <a:t>.NET 8 · build · xUnit</a:t>
            </a:r>
            <a:endParaRPr lang="en-US" sz="1950" dirty="0"/>
          </a:p>
        </p:txBody>
      </p:sp>
      <p:sp>
        <p:nvSpPr>
          <p:cNvPr id="11" name="Text 9"/>
          <p:cNvSpPr/>
          <p:nvPr/>
        </p:nvSpPr>
        <p:spPr>
          <a:xfrm>
            <a:off x="1466850" y="6923723"/>
            <a:ext cx="4460580" cy="1485900"/>
          </a:xfrm>
          <a:prstGeom prst="rect">
            <a:avLst/>
          </a:prstGeom>
          <a:noFill/>
          <a:ln/>
        </p:spPr>
        <p:txBody>
          <a:bodyPr wrap="square" lIns="25400" tIns="25400" rIns="25400" bIns="25400" rtlCol="0" anchor="t">
            <a:normAutofit/>
          </a:bodyPr>
          <a:lstStyle/>
          <a:p>
            <a:pPr marL="0" indent="0" algn="l">
              <a:lnSpc>
                <a:spcPct val="160000"/>
              </a:lnSpc>
              <a:buNone/>
            </a:pPr>
            <a:r>
              <a:rPr lang="en-US" sz="1425" dirty="0">
                <a:solidFill>
                  <a:srgbClr val="3A3E48"/>
                </a:solidFill>
                <a:latin typeface="Courier New" pitchFamily="34" charset="0"/>
                <a:ea typeface="Courier New" pitchFamily="34" charset="-122"/>
                <a:cs typeface="Courier New" pitchFamily="34" charset="-120"/>
              </a:rPr>
              <a:t>✓ checkout ✓ setup-dotnet 8.0.x ✓ dotnet restore ✓ dotnet build ✓ dotnet test</a:t>
            </a:r>
            <a:endParaRPr lang="en-US" sz="1425" dirty="0"/>
          </a:p>
        </p:txBody>
      </p:sp>
      <p:sp>
        <p:nvSpPr>
          <p:cNvPr id="12" name="Shape 10"/>
          <p:cNvSpPr/>
          <p:nvPr/>
        </p:nvSpPr>
        <p:spPr>
          <a:xfrm>
            <a:off x="6559511" y="3342322"/>
            <a:ext cx="5168979" cy="5410200"/>
          </a:xfrm>
          <a:prstGeom prst="roundRect">
            <a:avLst>
              <a:gd name="adj" fmla="val 3317"/>
            </a:avLst>
          </a:prstGeom>
          <a:solidFill>
            <a:srgbClr val="ECE6D6"/>
          </a:solidFill>
          <a:ln/>
        </p:spPr>
      </p:sp>
      <p:sp>
        <p:nvSpPr>
          <p:cNvPr id="13" name="Text 11"/>
          <p:cNvSpPr/>
          <p:nvPr/>
        </p:nvSpPr>
        <p:spPr>
          <a:xfrm>
            <a:off x="6978611" y="3723322"/>
            <a:ext cx="4460703"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JOB 02</a:t>
            </a:r>
            <a:endParaRPr lang="en-US" sz="1950" dirty="0"/>
          </a:p>
        </p:txBody>
      </p:sp>
      <p:sp>
        <p:nvSpPr>
          <p:cNvPr id="14" name="Text 12"/>
          <p:cNvSpPr/>
          <p:nvPr/>
        </p:nvSpPr>
        <p:spPr>
          <a:xfrm>
            <a:off x="6978611" y="4229100"/>
            <a:ext cx="4460703" cy="526732"/>
          </a:xfrm>
          <a:prstGeom prst="rect">
            <a:avLst/>
          </a:prstGeom>
          <a:noFill/>
          <a:ln/>
        </p:spPr>
        <p:txBody>
          <a:bodyPr wrap="square" lIns="25400" tIns="25400" rIns="25400" bIns="25400" rtlCol="0" anchor="t">
            <a:normAutofit/>
          </a:bodyPr>
          <a:lstStyle/>
          <a:p>
            <a:pPr marL="0" indent="0" algn="l">
              <a:lnSpc>
                <a:spcPct val="135000"/>
              </a:lnSpc>
              <a:buNone/>
            </a:pPr>
            <a:r>
              <a:rPr lang="en-US" sz="2850" b="1" kern="0" spc="-43" dirty="0">
                <a:solidFill>
                  <a:srgbClr val="1B1E25"/>
                </a:solidFill>
                <a:latin typeface="Arial" pitchFamily="34" charset="0"/>
                <a:ea typeface="Arial" pitchFamily="34" charset="-122"/>
                <a:cs typeface="Arial" pitchFamily="34" charset="-120"/>
              </a:rPr>
              <a:t>ML Service</a:t>
            </a:r>
            <a:endParaRPr lang="en-US" sz="2850" dirty="0"/>
          </a:p>
        </p:txBody>
      </p:sp>
      <p:sp>
        <p:nvSpPr>
          <p:cNvPr id="15" name="Text 13"/>
          <p:cNvSpPr/>
          <p:nvPr/>
        </p:nvSpPr>
        <p:spPr>
          <a:xfrm>
            <a:off x="6978611" y="4889182"/>
            <a:ext cx="4460703"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3A3E48"/>
                </a:solidFill>
                <a:latin typeface="Arial" pitchFamily="34" charset="0"/>
                <a:ea typeface="Arial" pitchFamily="34" charset="-122"/>
                <a:cs typeface="Arial" pitchFamily="34" charset="-120"/>
              </a:rPr>
              <a:t>Python 3.11 · pytest</a:t>
            </a:r>
            <a:endParaRPr lang="en-US" sz="1950" dirty="0"/>
          </a:p>
        </p:txBody>
      </p:sp>
      <p:sp>
        <p:nvSpPr>
          <p:cNvPr id="16" name="Text 14"/>
          <p:cNvSpPr/>
          <p:nvPr/>
        </p:nvSpPr>
        <p:spPr>
          <a:xfrm>
            <a:off x="6978611" y="7213282"/>
            <a:ext cx="4460703" cy="1196340"/>
          </a:xfrm>
          <a:prstGeom prst="rect">
            <a:avLst/>
          </a:prstGeom>
          <a:noFill/>
          <a:ln/>
        </p:spPr>
        <p:txBody>
          <a:bodyPr wrap="square" lIns="25400" tIns="25400" rIns="25400" bIns="25400" rtlCol="0" anchor="t">
            <a:normAutofit/>
          </a:bodyPr>
          <a:lstStyle/>
          <a:p>
            <a:pPr marL="0" indent="0" algn="l">
              <a:lnSpc>
                <a:spcPct val="160000"/>
              </a:lnSpc>
              <a:buNone/>
            </a:pPr>
            <a:r>
              <a:rPr lang="en-US" sz="1425" dirty="0">
                <a:solidFill>
                  <a:srgbClr val="3A3E48"/>
                </a:solidFill>
                <a:latin typeface="Courier New" pitchFamily="34" charset="0"/>
                <a:ea typeface="Courier New" pitchFamily="34" charset="-122"/>
                <a:cs typeface="Courier New" pitchFamily="34" charset="-120"/>
              </a:rPr>
              <a:t>✓ checkout ✓ setup-python 3.11 ✓ pip install -r ✓ pytest tests/ -v</a:t>
            </a:r>
            <a:endParaRPr lang="en-US" sz="1425" dirty="0"/>
          </a:p>
        </p:txBody>
      </p:sp>
      <p:sp>
        <p:nvSpPr>
          <p:cNvPr id="17" name="Shape 15"/>
          <p:cNvSpPr/>
          <p:nvPr/>
        </p:nvSpPr>
        <p:spPr>
          <a:xfrm>
            <a:off x="12071390" y="3342322"/>
            <a:ext cx="5168861" cy="5410200"/>
          </a:xfrm>
          <a:prstGeom prst="roundRect">
            <a:avLst>
              <a:gd name="adj" fmla="val 3317"/>
            </a:avLst>
          </a:prstGeom>
          <a:solidFill>
            <a:srgbClr val="ECE6D6"/>
          </a:solidFill>
          <a:ln/>
        </p:spPr>
      </p:sp>
      <p:sp>
        <p:nvSpPr>
          <p:cNvPr id="18" name="Text 16"/>
          <p:cNvSpPr/>
          <p:nvPr/>
        </p:nvSpPr>
        <p:spPr>
          <a:xfrm>
            <a:off x="12490490" y="3723322"/>
            <a:ext cx="4460580"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JOB 03</a:t>
            </a:r>
            <a:endParaRPr lang="en-US" sz="1950" dirty="0"/>
          </a:p>
        </p:txBody>
      </p:sp>
      <p:sp>
        <p:nvSpPr>
          <p:cNvPr id="19" name="Text 17"/>
          <p:cNvSpPr/>
          <p:nvPr/>
        </p:nvSpPr>
        <p:spPr>
          <a:xfrm>
            <a:off x="12490490" y="4229100"/>
            <a:ext cx="4460580" cy="526732"/>
          </a:xfrm>
          <a:prstGeom prst="rect">
            <a:avLst/>
          </a:prstGeom>
          <a:noFill/>
          <a:ln/>
        </p:spPr>
        <p:txBody>
          <a:bodyPr wrap="square" lIns="25400" tIns="25400" rIns="25400" bIns="25400" rtlCol="0" anchor="t">
            <a:normAutofit/>
          </a:bodyPr>
          <a:lstStyle/>
          <a:p>
            <a:pPr marL="0" indent="0" algn="l">
              <a:lnSpc>
                <a:spcPct val="135000"/>
              </a:lnSpc>
              <a:buNone/>
            </a:pPr>
            <a:r>
              <a:rPr lang="en-US" sz="2850" b="1" kern="0" spc="-43" dirty="0">
                <a:solidFill>
                  <a:srgbClr val="1B1E25"/>
                </a:solidFill>
                <a:latin typeface="Arial" pitchFamily="34" charset="0"/>
                <a:ea typeface="Arial" pitchFamily="34" charset="-122"/>
                <a:cs typeface="Arial" pitchFamily="34" charset="-120"/>
              </a:rPr>
              <a:t>Frontend</a:t>
            </a:r>
            <a:endParaRPr lang="en-US" sz="2850" dirty="0"/>
          </a:p>
        </p:txBody>
      </p:sp>
      <p:sp>
        <p:nvSpPr>
          <p:cNvPr id="20" name="Text 18"/>
          <p:cNvSpPr/>
          <p:nvPr/>
        </p:nvSpPr>
        <p:spPr>
          <a:xfrm>
            <a:off x="12490490" y="4889182"/>
            <a:ext cx="4460580"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3A3E48"/>
                </a:solidFill>
                <a:latin typeface="Arial" pitchFamily="34" charset="0"/>
                <a:ea typeface="Arial" pitchFamily="34" charset="-122"/>
                <a:cs typeface="Arial" pitchFamily="34" charset="-120"/>
              </a:rPr>
              <a:t>Node 20 · TypeScript</a:t>
            </a:r>
            <a:endParaRPr lang="en-US" sz="1950" dirty="0"/>
          </a:p>
        </p:txBody>
      </p:sp>
      <p:sp>
        <p:nvSpPr>
          <p:cNvPr id="21" name="Text 19"/>
          <p:cNvSpPr/>
          <p:nvPr/>
        </p:nvSpPr>
        <p:spPr>
          <a:xfrm>
            <a:off x="12490490" y="7213282"/>
            <a:ext cx="4460580" cy="1196340"/>
          </a:xfrm>
          <a:prstGeom prst="rect">
            <a:avLst/>
          </a:prstGeom>
          <a:noFill/>
          <a:ln/>
        </p:spPr>
        <p:txBody>
          <a:bodyPr wrap="square" lIns="25400" tIns="25400" rIns="25400" bIns="25400" rtlCol="0" anchor="t">
            <a:normAutofit/>
          </a:bodyPr>
          <a:lstStyle/>
          <a:p>
            <a:pPr marL="0" indent="0" algn="l">
              <a:lnSpc>
                <a:spcPct val="160000"/>
              </a:lnSpc>
              <a:buNone/>
            </a:pPr>
            <a:r>
              <a:rPr lang="en-US" sz="1425" dirty="0">
                <a:solidFill>
                  <a:srgbClr val="3A3E48"/>
                </a:solidFill>
                <a:latin typeface="Courier New" pitchFamily="34" charset="0"/>
                <a:ea typeface="Courier New" pitchFamily="34" charset="-122"/>
                <a:cs typeface="Courier New" pitchFamily="34" charset="-120"/>
              </a:rPr>
              <a:t>✓ checkout ✓ setup-node 20 ✓ npm ci ✓ npm run build</a:t>
            </a:r>
            <a:endParaRPr lang="en-US" sz="1425" dirty="0"/>
          </a:p>
        </p:txBody>
      </p:sp>
      <p:sp>
        <p:nvSpPr>
          <p:cNvPr id="22" name="Text 20"/>
          <p:cNvSpPr/>
          <p:nvPr/>
        </p:nvSpPr>
        <p:spPr>
          <a:xfrm>
            <a:off x="1047750" y="9095423"/>
            <a:ext cx="16678275"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Courier New" pitchFamily="34" charset="0"/>
                <a:ea typeface="Courier New" pitchFamily="34" charset="-122"/>
                <a:cs typeface="Courier New" pitchFamily="34" charset="-120"/>
              </a:rPr>
              <a:t>.github/workflows/ci.yml · déclenché sur push + pull_request · branches main, develop</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217"/>
        </a:solidFill>
        <a:effectLst/>
      </p:bgPr>
    </p:bg>
    <p:spTree>
      <p:nvGrpSpPr>
        <p:cNvPr id="1" name=""/>
        <p:cNvGrpSpPr/>
        <p:nvPr/>
      </p:nvGrpSpPr>
      <p:grpSpPr>
        <a:xfrm>
          <a:off x="0" y="0"/>
          <a:ext cx="0" cy="0"/>
          <a:chOff x="0" y="0"/>
          <a:chExt cx="0" cy="0"/>
        </a:xfrm>
      </p:grpSpPr>
      <p:sp>
        <p:nvSpPr>
          <p:cNvPr id="2" name="Text 0"/>
          <p:cNvSpPr/>
          <p:nvPr/>
        </p:nvSpPr>
        <p:spPr>
          <a:xfrm>
            <a:off x="1047750" y="419100"/>
            <a:ext cx="139315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9AA0AB"/>
                </a:solidFill>
                <a:latin typeface="Courier New" pitchFamily="34" charset="0"/>
                <a:ea typeface="Courier New" pitchFamily="34" charset="-122"/>
                <a:cs typeface="Courier New" pitchFamily="34" charset="-120"/>
              </a:rPr>
              <a:t>09 — ÉTAPE 2</a:t>
            </a:r>
            <a:endParaRPr lang="en-US" sz="1350" dirty="0"/>
          </a:p>
        </p:txBody>
      </p:sp>
      <p:sp>
        <p:nvSpPr>
          <p:cNvPr id="3" name="Shape 1"/>
          <p:cNvSpPr/>
          <p:nvPr/>
        </p:nvSpPr>
        <p:spPr>
          <a:xfrm>
            <a:off x="16224290" y="496729"/>
            <a:ext cx="76200" cy="76200"/>
          </a:xfrm>
          <a:prstGeom prst="ellipse">
            <a:avLst/>
          </a:prstGeom>
          <a:solidFill>
            <a:srgbClr val="F1EDE2"/>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9AA0AB"/>
                </a:solidFill>
                <a:latin typeface="Courier New" pitchFamily="34" charset="0"/>
                <a:ea typeface="Courier New" pitchFamily="34" charset="-122"/>
                <a:cs typeface="Courier New" pitchFamily="34" charset="-120"/>
              </a:rPr>
              <a:t>09 / 18</a:t>
            </a:r>
            <a:endParaRPr lang="en-US" sz="1350" dirty="0"/>
          </a:p>
        </p:txBody>
      </p:sp>
      <p:sp>
        <p:nvSpPr>
          <p:cNvPr id="5" name="Text 3"/>
          <p:cNvSpPr/>
          <p:nvPr/>
        </p:nvSpPr>
        <p:spPr>
          <a:xfrm>
            <a:off x="1047750" y="3145155"/>
            <a:ext cx="4615713" cy="449580"/>
          </a:xfrm>
          <a:prstGeom prst="rect">
            <a:avLst/>
          </a:prstGeom>
          <a:noFill/>
          <a:ln/>
        </p:spPr>
        <p:txBody>
          <a:bodyPr wrap="square" lIns="25400" tIns="25400" rIns="25400" bIns="25400" rtlCol="0" anchor="t">
            <a:normAutofit/>
          </a:bodyPr>
          <a:lstStyle/>
          <a:p>
            <a:pPr marL="0" indent="0" algn="l">
              <a:lnSpc>
                <a:spcPct val="135000"/>
              </a:lnSpc>
              <a:buNone/>
            </a:pPr>
            <a:r>
              <a:rPr lang="en-US" sz="2400" kern="0" spc="240" dirty="0">
                <a:solidFill>
                  <a:srgbClr val="2A5FD9"/>
                </a:solidFill>
                <a:latin typeface="Courier New" pitchFamily="34" charset="0"/>
                <a:ea typeface="Courier New" pitchFamily="34" charset="-122"/>
                <a:cs typeface="Courier New" pitchFamily="34" charset="-120"/>
              </a:rPr>
              <a:t>02 — CONTENEURISATION</a:t>
            </a:r>
            <a:endParaRPr lang="en-US" sz="2400" dirty="0"/>
          </a:p>
        </p:txBody>
      </p:sp>
      <p:sp>
        <p:nvSpPr>
          <p:cNvPr id="6" name="Text 4"/>
          <p:cNvSpPr/>
          <p:nvPr/>
        </p:nvSpPr>
        <p:spPr>
          <a:xfrm>
            <a:off x="1047750" y="3937635"/>
            <a:ext cx="8226314" cy="1203960"/>
          </a:xfrm>
          <a:prstGeom prst="rect">
            <a:avLst/>
          </a:prstGeom>
          <a:noFill/>
          <a:ln/>
        </p:spPr>
        <p:txBody>
          <a:bodyPr wrap="square" lIns="25400" tIns="25400" rIns="25400" bIns="25400" rtlCol="0" anchor="t">
            <a:normAutofit/>
          </a:bodyPr>
          <a:lstStyle/>
          <a:p>
            <a:pPr marL="0" indent="0" algn="l">
              <a:lnSpc>
                <a:spcPct val="102000"/>
              </a:lnSpc>
              <a:buNone/>
            </a:pPr>
            <a:r>
              <a:rPr lang="en-US" sz="9000" b="1" kern="0" spc="-225" dirty="0">
                <a:solidFill>
                  <a:srgbClr val="F1EDE2"/>
                </a:solidFill>
                <a:latin typeface="Arial" pitchFamily="34" charset="0"/>
                <a:ea typeface="Arial" pitchFamily="34" charset="-122"/>
                <a:cs typeface="Arial" pitchFamily="34" charset="-120"/>
              </a:rPr>
              <a:t>Images Docker.</a:t>
            </a:r>
            <a:endParaRPr lang="en-US" sz="9000" dirty="0"/>
          </a:p>
        </p:txBody>
      </p:sp>
      <p:sp>
        <p:nvSpPr>
          <p:cNvPr id="7" name="Text 5"/>
          <p:cNvSpPr/>
          <p:nvPr/>
        </p:nvSpPr>
        <p:spPr>
          <a:xfrm>
            <a:off x="1047750" y="5713095"/>
            <a:ext cx="11772900" cy="1524000"/>
          </a:xfrm>
          <a:prstGeom prst="rect">
            <a:avLst/>
          </a:prstGeom>
          <a:noFill/>
          <a:ln/>
        </p:spPr>
        <p:txBody>
          <a:bodyPr wrap="square" lIns="25400" tIns="25400" rIns="25400" bIns="25400" rtlCol="0" anchor="t">
            <a:normAutofit/>
          </a:bodyPr>
          <a:lstStyle/>
          <a:p>
            <a:pPr marL="0" indent="0" algn="l">
              <a:lnSpc>
                <a:spcPct val="130000"/>
              </a:lnSpc>
              <a:buNone/>
            </a:pPr>
            <a:r>
              <a:rPr lang="en-US" sz="3000" dirty="0">
                <a:solidFill>
                  <a:srgbClr val="9AA0AB"/>
                </a:solidFill>
                <a:latin typeface="Arial" pitchFamily="34" charset="0"/>
                <a:ea typeface="Arial" pitchFamily="34" charset="-122"/>
                <a:cs typeface="Arial" pitchFamily="34" charset="-120"/>
              </a:rPr>
              <a:t>Une image = une recette qui transforme un OS vide en un service prêt à tourner. On a écrit un Dockerfile pour chaque service du projet.</a:t>
            </a:r>
            <a:endParaRPr lang="en-US" sz="3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1047750" y="419100"/>
            <a:ext cx="2380893"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09 · IMAGES / CONCEPT</a:t>
            </a:r>
            <a:endParaRPr lang="en-US" sz="1350" dirty="0"/>
          </a:p>
        </p:txBody>
      </p:sp>
      <p:sp>
        <p:nvSpPr>
          <p:cNvPr id="3" name="Shape 1"/>
          <p:cNvSpPr/>
          <p:nvPr/>
        </p:nvSpPr>
        <p:spPr>
          <a:xfrm>
            <a:off x="16224290" y="496729"/>
            <a:ext cx="76200" cy="76200"/>
          </a:xfrm>
          <a:prstGeom prst="ellipse">
            <a:avLst/>
          </a:prstGeom>
          <a:solidFill>
            <a:srgbClr val="2A5FD9"/>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10 / 18</a:t>
            </a:r>
            <a:endParaRPr lang="en-US" sz="1350" dirty="0"/>
          </a:p>
        </p:txBody>
      </p:sp>
      <p:sp>
        <p:nvSpPr>
          <p:cNvPr id="5" name="Text 3"/>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CONCEPT</a:t>
            </a:r>
            <a:endParaRPr lang="en-US" sz="1650" dirty="0"/>
          </a:p>
        </p:txBody>
      </p:sp>
      <p:sp>
        <p:nvSpPr>
          <p:cNvPr id="6" name="Text 4"/>
          <p:cNvSpPr/>
          <p:nvPr/>
        </p:nvSpPr>
        <p:spPr>
          <a:xfrm>
            <a:off x="1047750" y="1368742"/>
            <a:ext cx="16678275" cy="147828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1B1E25"/>
                </a:solidFill>
                <a:latin typeface="Arial" pitchFamily="34" charset="0"/>
                <a:ea typeface="Arial" pitchFamily="34" charset="-122"/>
                <a:cs typeface="Arial" pitchFamily="34" charset="-120"/>
              </a:rPr>
              <a:t>Le Dockerfile décrit comment construire l'environnement. Docker build le matérialise.</a:t>
            </a:r>
            <a:endParaRPr lang="en-US" sz="5400" dirty="0"/>
          </a:p>
        </p:txBody>
      </p:sp>
      <p:pic>
        <p:nvPicPr>
          <p:cNvPr id="7" name="Image 0" descr="preencoded.png"/>
          <p:cNvPicPr>
            <a:picLocks noChangeAspect="1"/>
          </p:cNvPicPr>
          <p:nvPr/>
        </p:nvPicPr>
        <p:blipFill>
          <a:blip r:embed="rId3"/>
          <a:stretch>
            <a:fillRect/>
          </a:stretch>
        </p:blipFill>
        <p:spPr>
          <a:xfrm>
            <a:off x="2000250" y="4416266"/>
            <a:ext cx="14287500" cy="3619500"/>
          </a:xfrm>
          <a:prstGeom prst="rect">
            <a:avLst/>
          </a:prstGeom>
        </p:spPr>
      </p:pic>
      <p:sp>
        <p:nvSpPr>
          <p:cNvPr id="8" name="Text 5"/>
          <p:cNvSpPr/>
          <p:nvPr/>
        </p:nvSpPr>
        <p:spPr>
          <a:xfrm>
            <a:off x="1047750" y="9109710"/>
            <a:ext cx="8182165" cy="358140"/>
          </a:xfrm>
          <a:prstGeom prst="rect">
            <a:avLst/>
          </a:prstGeom>
          <a:noFill/>
          <a:ln/>
        </p:spPr>
        <p:txBody>
          <a:bodyPr wrap="square" lIns="25400" tIns="25400" rIns="25400" bIns="25400" rtlCol="0" anchor="t">
            <a:normAutofit/>
          </a:bodyPr>
          <a:lstStyle/>
          <a:p>
            <a:pPr marL="0" indent="0" algn="l">
              <a:lnSpc>
                <a:spcPct val="120000"/>
              </a:lnSpc>
              <a:buNone/>
            </a:pPr>
            <a:r>
              <a:rPr lang="en-US" sz="2100" kern="0" spc="-21" dirty="0">
                <a:solidFill>
                  <a:srgbClr val="3A3E48"/>
                </a:solidFill>
                <a:latin typeface="Arial" pitchFamily="34" charset="0"/>
                <a:ea typeface="Arial" pitchFamily="34" charset="-122"/>
                <a:cs typeface="Arial" pitchFamily="34" charset="-120"/>
              </a:rPr>
              <a:t>L'image est </a:t>
            </a:r>
            <a:r>
              <a:rPr lang="en-US" sz="2100" kern="0" spc="-21" dirty="0">
                <a:solidFill>
                  <a:srgbClr val="2A5FD9"/>
                </a:solidFill>
                <a:latin typeface="Arial" pitchFamily="34" charset="0"/>
                <a:ea typeface="Arial" pitchFamily="34" charset="-122"/>
                <a:cs typeface="Arial" pitchFamily="34" charset="-120"/>
              </a:rPr>
              <a:t>immuable </a:t>
            </a:r>
            <a:r>
              <a:rPr lang="en-US" sz="2100" kern="0" spc="-21" dirty="0">
                <a:solidFill>
                  <a:srgbClr val="3A3E48"/>
                </a:solidFill>
                <a:latin typeface="Arial" pitchFamily="34" charset="0"/>
                <a:ea typeface="Arial" pitchFamily="34" charset="-122"/>
                <a:cs typeface="Arial" pitchFamily="34" charset="-120"/>
              </a:rPr>
              <a:t>— pareille en dev, en test, en prod.</a:t>
            </a:r>
            <a:endParaRPr lang="en-US" sz="2100" dirty="0"/>
          </a:p>
        </p:txBody>
      </p:sp>
      <p:sp>
        <p:nvSpPr>
          <p:cNvPr id="9" name="Text 6"/>
          <p:cNvSpPr/>
          <p:nvPr/>
        </p:nvSpPr>
        <p:spPr>
          <a:xfrm>
            <a:off x="9296400" y="9109710"/>
            <a:ext cx="8182165" cy="358140"/>
          </a:xfrm>
          <a:prstGeom prst="rect">
            <a:avLst/>
          </a:prstGeom>
          <a:noFill/>
          <a:ln/>
        </p:spPr>
        <p:txBody>
          <a:bodyPr wrap="square" lIns="25400" tIns="25400" rIns="25400" bIns="25400" rtlCol="0" anchor="t">
            <a:normAutofit/>
          </a:bodyPr>
          <a:lstStyle/>
          <a:p>
            <a:pPr marL="0" indent="0" algn="l">
              <a:lnSpc>
                <a:spcPct val="120000"/>
              </a:lnSpc>
              <a:buNone/>
            </a:pPr>
            <a:r>
              <a:rPr lang="en-US" sz="2100" kern="0" spc="-21" dirty="0">
                <a:solidFill>
                  <a:srgbClr val="3A3E48"/>
                </a:solidFill>
                <a:latin typeface="Arial" pitchFamily="34" charset="0"/>
                <a:ea typeface="Arial" pitchFamily="34" charset="-122"/>
                <a:cs typeface="Arial" pitchFamily="34" charset="-120"/>
              </a:rPr>
              <a:t>Le conteneur est </a:t>
            </a:r>
            <a:r>
              <a:rPr lang="en-US" sz="2100" kern="0" spc="-21" dirty="0">
                <a:solidFill>
                  <a:srgbClr val="2A5FD9"/>
                </a:solidFill>
                <a:latin typeface="Arial" pitchFamily="34" charset="0"/>
                <a:ea typeface="Arial" pitchFamily="34" charset="-122"/>
                <a:cs typeface="Arial" pitchFamily="34" charset="-120"/>
              </a:rPr>
              <a:t>jetable </a:t>
            </a:r>
            <a:r>
              <a:rPr lang="en-US" sz="2100" kern="0" spc="-21" dirty="0">
                <a:solidFill>
                  <a:srgbClr val="3A3E48"/>
                </a:solidFill>
                <a:latin typeface="Arial" pitchFamily="34" charset="0"/>
                <a:ea typeface="Arial" pitchFamily="34" charset="-122"/>
                <a:cs typeface="Arial" pitchFamily="34" charset="-120"/>
              </a:rPr>
              <a:t>— on le tue, on le relance, rien ne change.</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1047750" y="419100"/>
            <a:ext cx="2712918"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09 · IMAGES / DOCKERFILE</a:t>
            </a:r>
            <a:endParaRPr lang="en-US" sz="1350" dirty="0"/>
          </a:p>
        </p:txBody>
      </p:sp>
      <p:sp>
        <p:nvSpPr>
          <p:cNvPr id="3" name="Shape 1"/>
          <p:cNvSpPr/>
          <p:nvPr/>
        </p:nvSpPr>
        <p:spPr>
          <a:xfrm>
            <a:off x="16224290" y="496729"/>
            <a:ext cx="76200" cy="76200"/>
          </a:xfrm>
          <a:prstGeom prst="ellipse">
            <a:avLst/>
          </a:prstGeom>
          <a:solidFill>
            <a:srgbClr val="2A5FD9"/>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11 / 18</a:t>
            </a:r>
            <a:endParaRPr lang="en-US" sz="1350" dirty="0"/>
          </a:p>
        </p:txBody>
      </p:sp>
      <p:sp>
        <p:nvSpPr>
          <p:cNvPr id="5" name="Text 3"/>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EXEMPLE — BACKEND/DOCKERFILE</a:t>
            </a:r>
            <a:endParaRPr lang="en-US" sz="1650" dirty="0"/>
          </a:p>
        </p:txBody>
      </p:sp>
      <p:sp>
        <p:nvSpPr>
          <p:cNvPr id="6" name="Text 4"/>
          <p:cNvSpPr/>
          <p:nvPr/>
        </p:nvSpPr>
        <p:spPr>
          <a:xfrm>
            <a:off x="1047750" y="1368742"/>
            <a:ext cx="16678275" cy="219837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1B1E25"/>
                </a:solidFill>
                <a:latin typeface="Arial" pitchFamily="34" charset="0"/>
                <a:ea typeface="Arial" pitchFamily="34" charset="-122"/>
                <a:cs typeface="Arial" pitchFamily="34" charset="-120"/>
              </a:rPr>
              <a:t>Build multi-stage : on compile dans une image lourde, on déploie dans une image légère.</a:t>
            </a:r>
            <a:endParaRPr lang="en-US" sz="5400" dirty="0"/>
          </a:p>
        </p:txBody>
      </p:sp>
      <p:sp>
        <p:nvSpPr>
          <p:cNvPr id="7" name="Shape 5"/>
          <p:cNvSpPr/>
          <p:nvPr/>
        </p:nvSpPr>
        <p:spPr>
          <a:xfrm>
            <a:off x="1047750" y="4271963"/>
            <a:ext cx="9223415" cy="5180648"/>
          </a:xfrm>
          <a:prstGeom prst="roundRect">
            <a:avLst>
              <a:gd name="adj" fmla="val 2942"/>
            </a:avLst>
          </a:prstGeom>
          <a:solidFill>
            <a:srgbClr val="0F1217"/>
          </a:solidFill>
          <a:ln/>
        </p:spPr>
      </p:sp>
      <p:sp>
        <p:nvSpPr>
          <p:cNvPr id="8" name="Text 6"/>
          <p:cNvSpPr/>
          <p:nvPr/>
        </p:nvSpPr>
        <p:spPr>
          <a:xfrm>
            <a:off x="1428750" y="4614863"/>
            <a:ext cx="8738117" cy="4532948"/>
          </a:xfrm>
          <a:prstGeom prst="rect">
            <a:avLst/>
          </a:prstGeom>
          <a:noFill/>
          <a:ln/>
        </p:spPr>
        <p:txBody>
          <a:bodyPr wrap="square" lIns="25400" tIns="25400" rIns="25400" bIns="25400" rtlCol="0" anchor="t">
            <a:normAutofit/>
          </a:bodyPr>
          <a:lstStyle/>
          <a:p>
            <a:pPr marL="0" indent="0" algn="l">
              <a:lnSpc>
                <a:spcPct val="165000"/>
              </a:lnSpc>
              <a:buNone/>
            </a:pPr>
            <a:r>
              <a:rPr lang="en-US" sz="1650" i="1" dirty="0">
                <a:solidFill>
                  <a:srgbClr val="7E828E"/>
                </a:solidFill>
                <a:latin typeface="Courier New" pitchFamily="34" charset="0"/>
                <a:ea typeface="Courier New" pitchFamily="34" charset="-122"/>
                <a:cs typeface="Courier New" pitchFamily="34" charset="-120"/>
              </a:rPr>
              <a:t># --- stage 1 : build --- </a:t>
            </a:r>
            <a:r>
              <a:rPr lang="en-US" sz="1650" dirty="0">
                <a:solidFill>
                  <a:srgbClr val="C8A8FF"/>
                </a:solidFill>
                <a:latin typeface="Courier New" pitchFamily="34" charset="0"/>
                <a:ea typeface="Courier New" pitchFamily="34" charset="-122"/>
                <a:cs typeface="Courier New" pitchFamily="34" charset="-120"/>
              </a:rPr>
              <a:t>FROM</a:t>
            </a:r>
            <a:r>
              <a:rPr lang="en-US" sz="1650" dirty="0">
                <a:solidFill>
                  <a:srgbClr val="F1EDE2"/>
                </a:solidFill>
                <a:highlight>
                  <a:srgbClr val="0F1217"/>
                </a:highlight>
                <a:latin typeface="Courier New" pitchFamily="34" charset="0"/>
                <a:ea typeface="Courier New" pitchFamily="34" charset="-122"/>
                <a:cs typeface="Courier New" pitchFamily="34" charset="-120"/>
              </a:rPr>
              <a:t> </a:t>
            </a:r>
            <a:r>
              <a:rPr lang="en-US" sz="1650" dirty="0">
                <a:solidFill>
                  <a:srgbClr val="B8E6A8"/>
                </a:solidFill>
                <a:latin typeface="Courier New" pitchFamily="34" charset="0"/>
                <a:ea typeface="Courier New" pitchFamily="34" charset="-122"/>
                <a:cs typeface="Courier New" pitchFamily="34" charset="-120"/>
              </a:rPr>
              <a:t>mcr.microsoft.com/dotnet/sdk:8.0</a:t>
            </a:r>
            <a:r>
              <a:rPr lang="en-US" sz="1650" dirty="0">
                <a:solidFill>
                  <a:srgbClr val="F1EDE2"/>
                </a:solidFill>
                <a:highlight>
                  <a:srgbClr val="0F1217"/>
                </a:highlight>
                <a:latin typeface="Courier New" pitchFamily="34" charset="0"/>
                <a:ea typeface="Courier New" pitchFamily="34" charset="-122"/>
                <a:cs typeface="Courier New" pitchFamily="34" charset="-120"/>
              </a:rPr>
              <a:t> </a:t>
            </a:r>
            <a:r>
              <a:rPr lang="en-US" sz="1650" dirty="0">
                <a:solidFill>
                  <a:srgbClr val="C8A8FF"/>
                </a:solidFill>
                <a:latin typeface="Courier New" pitchFamily="34" charset="0"/>
                <a:ea typeface="Courier New" pitchFamily="34" charset="-122"/>
                <a:cs typeface="Courier New" pitchFamily="34" charset="-120"/>
              </a:rPr>
              <a:t>AS</a:t>
            </a:r>
            <a:r>
              <a:rPr lang="en-US" sz="1650" dirty="0">
                <a:solidFill>
                  <a:srgbClr val="F1EDE2"/>
                </a:solidFill>
                <a:highlight>
                  <a:srgbClr val="0F1217"/>
                </a:highlight>
                <a:latin typeface="Courier New" pitchFamily="34" charset="0"/>
                <a:ea typeface="Courier New" pitchFamily="34" charset="-122"/>
                <a:cs typeface="Courier New" pitchFamily="34" charset="-120"/>
              </a:rPr>
              <a:t> build </a:t>
            </a:r>
            <a:r>
              <a:rPr lang="en-US" sz="1650" dirty="0">
                <a:solidFill>
                  <a:srgbClr val="C8A8FF"/>
                </a:solidFill>
                <a:latin typeface="Courier New" pitchFamily="34" charset="0"/>
                <a:ea typeface="Courier New" pitchFamily="34" charset="-122"/>
                <a:cs typeface="Courier New" pitchFamily="34" charset="-120"/>
              </a:rPr>
              <a:t>WORKDIR</a:t>
            </a:r>
            <a:r>
              <a:rPr lang="en-US" sz="1650" dirty="0">
                <a:solidFill>
                  <a:srgbClr val="F1EDE2"/>
                </a:solidFill>
                <a:highlight>
                  <a:srgbClr val="0F1217"/>
                </a:highlight>
                <a:latin typeface="Courier New" pitchFamily="34" charset="0"/>
                <a:ea typeface="Courier New" pitchFamily="34" charset="-122"/>
                <a:cs typeface="Courier New" pitchFamily="34" charset="-120"/>
              </a:rPr>
              <a:t> /src </a:t>
            </a:r>
            <a:r>
              <a:rPr lang="en-US" sz="1650" dirty="0">
                <a:solidFill>
                  <a:srgbClr val="C8A8FF"/>
                </a:solidFill>
                <a:latin typeface="Courier New" pitchFamily="34" charset="0"/>
                <a:ea typeface="Courier New" pitchFamily="34" charset="-122"/>
                <a:cs typeface="Courier New" pitchFamily="34" charset="-120"/>
              </a:rPr>
              <a:t>COPY</a:t>
            </a:r>
            <a:r>
              <a:rPr lang="en-US" sz="1650" dirty="0">
                <a:solidFill>
                  <a:srgbClr val="F1EDE2"/>
                </a:solidFill>
                <a:highlight>
                  <a:srgbClr val="0F1217"/>
                </a:highlight>
                <a:latin typeface="Courier New" pitchFamily="34" charset="0"/>
                <a:ea typeface="Courier New" pitchFamily="34" charset="-122"/>
                <a:cs typeface="Courier New" pitchFamily="34" charset="-120"/>
              </a:rPr>
              <a:t> . . </a:t>
            </a:r>
            <a:r>
              <a:rPr lang="en-US" sz="1650" dirty="0">
                <a:solidFill>
                  <a:srgbClr val="C8A8FF"/>
                </a:solidFill>
                <a:latin typeface="Courier New" pitchFamily="34" charset="0"/>
                <a:ea typeface="Courier New" pitchFamily="34" charset="-122"/>
                <a:cs typeface="Courier New" pitchFamily="34" charset="-120"/>
              </a:rPr>
              <a:t>RUN</a:t>
            </a:r>
            <a:r>
              <a:rPr lang="en-US" sz="1650" dirty="0">
                <a:solidFill>
                  <a:srgbClr val="F1EDE2"/>
                </a:solidFill>
                <a:highlight>
                  <a:srgbClr val="0F1217"/>
                </a:highlight>
                <a:latin typeface="Courier New" pitchFamily="34" charset="0"/>
                <a:ea typeface="Courier New" pitchFamily="34" charset="-122"/>
                <a:cs typeface="Courier New" pitchFamily="34" charset="-120"/>
              </a:rPr>
              <a:t> dotnet restore </a:t>
            </a:r>
            <a:r>
              <a:rPr lang="en-US" sz="1650" dirty="0">
                <a:solidFill>
                  <a:srgbClr val="C8A8FF"/>
                </a:solidFill>
                <a:latin typeface="Courier New" pitchFamily="34" charset="0"/>
                <a:ea typeface="Courier New" pitchFamily="34" charset="-122"/>
                <a:cs typeface="Courier New" pitchFamily="34" charset="-120"/>
              </a:rPr>
              <a:t>RUN</a:t>
            </a:r>
            <a:r>
              <a:rPr lang="en-US" sz="1650" dirty="0">
                <a:solidFill>
                  <a:srgbClr val="F1EDE2"/>
                </a:solidFill>
                <a:highlight>
                  <a:srgbClr val="0F1217"/>
                </a:highlight>
                <a:latin typeface="Courier New" pitchFamily="34" charset="0"/>
                <a:ea typeface="Courier New" pitchFamily="34" charset="-122"/>
                <a:cs typeface="Courier New" pitchFamily="34" charset="-120"/>
              </a:rPr>
              <a:t> dotnet publish -c Release -o /app </a:t>
            </a:r>
            <a:r>
              <a:rPr lang="en-US" sz="1650" i="1" dirty="0">
                <a:solidFill>
                  <a:srgbClr val="7E828E"/>
                </a:solidFill>
                <a:latin typeface="Courier New" pitchFamily="34" charset="0"/>
                <a:ea typeface="Courier New" pitchFamily="34" charset="-122"/>
                <a:cs typeface="Courier New" pitchFamily="34" charset="-120"/>
              </a:rPr>
              <a:t># --- stage 2 : runtime --- </a:t>
            </a:r>
            <a:r>
              <a:rPr lang="en-US" sz="1650" dirty="0">
                <a:solidFill>
                  <a:srgbClr val="C8A8FF"/>
                </a:solidFill>
                <a:latin typeface="Courier New" pitchFamily="34" charset="0"/>
                <a:ea typeface="Courier New" pitchFamily="34" charset="-122"/>
                <a:cs typeface="Courier New" pitchFamily="34" charset="-120"/>
              </a:rPr>
              <a:t>FROM</a:t>
            </a:r>
            <a:r>
              <a:rPr lang="en-US" sz="1650" dirty="0">
                <a:solidFill>
                  <a:srgbClr val="F1EDE2"/>
                </a:solidFill>
                <a:highlight>
                  <a:srgbClr val="0F1217"/>
                </a:highlight>
                <a:latin typeface="Courier New" pitchFamily="34" charset="0"/>
                <a:ea typeface="Courier New" pitchFamily="34" charset="-122"/>
                <a:cs typeface="Courier New" pitchFamily="34" charset="-120"/>
              </a:rPr>
              <a:t> </a:t>
            </a:r>
            <a:r>
              <a:rPr lang="en-US" sz="1650" dirty="0">
                <a:solidFill>
                  <a:srgbClr val="B8E6A8"/>
                </a:solidFill>
                <a:latin typeface="Courier New" pitchFamily="34" charset="0"/>
                <a:ea typeface="Courier New" pitchFamily="34" charset="-122"/>
                <a:cs typeface="Courier New" pitchFamily="34" charset="-120"/>
              </a:rPr>
              <a:t>mcr.microsoft.com/dotnet/aspnet:8.0 </a:t>
            </a:r>
            <a:r>
              <a:rPr lang="en-US" sz="1650" dirty="0">
                <a:solidFill>
                  <a:srgbClr val="C8A8FF"/>
                </a:solidFill>
                <a:latin typeface="Courier New" pitchFamily="34" charset="0"/>
                <a:ea typeface="Courier New" pitchFamily="34" charset="-122"/>
                <a:cs typeface="Courier New" pitchFamily="34" charset="-120"/>
              </a:rPr>
              <a:t>WORKDIR</a:t>
            </a:r>
            <a:r>
              <a:rPr lang="en-US" sz="1650" dirty="0">
                <a:solidFill>
                  <a:srgbClr val="F1EDE2"/>
                </a:solidFill>
                <a:highlight>
                  <a:srgbClr val="0F1217"/>
                </a:highlight>
                <a:latin typeface="Courier New" pitchFamily="34" charset="0"/>
                <a:ea typeface="Courier New" pitchFamily="34" charset="-122"/>
                <a:cs typeface="Courier New" pitchFamily="34" charset="-120"/>
              </a:rPr>
              <a:t> /app </a:t>
            </a:r>
            <a:r>
              <a:rPr lang="en-US" sz="1650" dirty="0">
                <a:solidFill>
                  <a:srgbClr val="C8A8FF"/>
                </a:solidFill>
                <a:latin typeface="Courier New" pitchFamily="34" charset="0"/>
                <a:ea typeface="Courier New" pitchFamily="34" charset="-122"/>
                <a:cs typeface="Courier New" pitchFamily="34" charset="-120"/>
              </a:rPr>
              <a:t>COPY</a:t>
            </a:r>
            <a:r>
              <a:rPr lang="en-US" sz="1650" dirty="0">
                <a:solidFill>
                  <a:srgbClr val="F1EDE2"/>
                </a:solidFill>
                <a:highlight>
                  <a:srgbClr val="0F1217"/>
                </a:highlight>
                <a:latin typeface="Courier New" pitchFamily="34" charset="0"/>
                <a:ea typeface="Courier New" pitchFamily="34" charset="-122"/>
                <a:cs typeface="Courier New" pitchFamily="34" charset="-120"/>
              </a:rPr>
              <a:t> --from=build /app . </a:t>
            </a:r>
            <a:r>
              <a:rPr lang="en-US" sz="1650" dirty="0">
                <a:solidFill>
                  <a:srgbClr val="C8A8FF"/>
                </a:solidFill>
                <a:latin typeface="Courier New" pitchFamily="34" charset="0"/>
                <a:ea typeface="Courier New" pitchFamily="34" charset="-122"/>
                <a:cs typeface="Courier New" pitchFamily="34" charset="-120"/>
              </a:rPr>
              <a:t>EXPOSE</a:t>
            </a:r>
            <a:r>
              <a:rPr lang="en-US" sz="1650" dirty="0">
                <a:solidFill>
                  <a:srgbClr val="F1EDE2"/>
                </a:solidFill>
                <a:highlight>
                  <a:srgbClr val="0F1217"/>
                </a:highlight>
                <a:latin typeface="Courier New" pitchFamily="34" charset="0"/>
                <a:ea typeface="Courier New" pitchFamily="34" charset="-122"/>
                <a:cs typeface="Courier New" pitchFamily="34" charset="-120"/>
              </a:rPr>
              <a:t> </a:t>
            </a:r>
            <a:r>
              <a:rPr lang="en-US" sz="1650" dirty="0">
                <a:solidFill>
                  <a:srgbClr val="FFD58A"/>
                </a:solidFill>
                <a:latin typeface="Courier New" pitchFamily="34" charset="0"/>
                <a:ea typeface="Courier New" pitchFamily="34" charset="-122"/>
                <a:cs typeface="Courier New" pitchFamily="34" charset="-120"/>
              </a:rPr>
              <a:t>8080 </a:t>
            </a:r>
            <a:r>
              <a:rPr lang="en-US" sz="1650" dirty="0">
                <a:solidFill>
                  <a:srgbClr val="C8A8FF"/>
                </a:solidFill>
                <a:latin typeface="Courier New" pitchFamily="34" charset="0"/>
                <a:ea typeface="Courier New" pitchFamily="34" charset="-122"/>
                <a:cs typeface="Courier New" pitchFamily="34" charset="-120"/>
              </a:rPr>
              <a:t>ENTRYPOINT</a:t>
            </a:r>
            <a:r>
              <a:rPr lang="en-US" sz="1650" dirty="0">
                <a:solidFill>
                  <a:srgbClr val="F1EDE2"/>
                </a:solidFill>
                <a:highlight>
                  <a:srgbClr val="0F1217"/>
                </a:highlight>
                <a:latin typeface="Courier New" pitchFamily="34" charset="0"/>
                <a:ea typeface="Courier New" pitchFamily="34" charset="-122"/>
                <a:cs typeface="Courier New" pitchFamily="34" charset="-120"/>
              </a:rPr>
              <a:t> [</a:t>
            </a:r>
            <a:r>
              <a:rPr lang="en-US" sz="1650" dirty="0">
                <a:solidFill>
                  <a:srgbClr val="B8E6A8"/>
                </a:solidFill>
                <a:latin typeface="Courier New" pitchFamily="34" charset="0"/>
                <a:ea typeface="Courier New" pitchFamily="34" charset="-122"/>
                <a:cs typeface="Courier New" pitchFamily="34" charset="-120"/>
              </a:rPr>
              <a:t>"dotnet"</a:t>
            </a:r>
            <a:r>
              <a:rPr lang="en-US" sz="1650" dirty="0">
                <a:solidFill>
                  <a:srgbClr val="F1EDE2"/>
                </a:solidFill>
                <a:highlight>
                  <a:srgbClr val="0F1217"/>
                </a:highlight>
                <a:latin typeface="Courier New" pitchFamily="34" charset="0"/>
                <a:ea typeface="Courier New" pitchFamily="34" charset="-122"/>
                <a:cs typeface="Courier New" pitchFamily="34" charset="-120"/>
              </a:rPr>
              <a:t>, </a:t>
            </a:r>
            <a:r>
              <a:rPr lang="en-US" sz="1650" dirty="0">
                <a:solidFill>
                  <a:srgbClr val="B8E6A8"/>
                </a:solidFill>
                <a:latin typeface="Courier New" pitchFamily="34" charset="0"/>
                <a:ea typeface="Courier New" pitchFamily="34" charset="-122"/>
                <a:cs typeface="Courier New" pitchFamily="34" charset="-120"/>
              </a:rPr>
              <a:t>"PlateformePFA.API.dll"</a:t>
            </a:r>
            <a:r>
              <a:rPr lang="en-US" sz="1650" dirty="0">
                <a:solidFill>
                  <a:srgbClr val="F1EDE2"/>
                </a:solidFill>
                <a:highlight>
                  <a:srgbClr val="0F1217"/>
                </a:highlight>
                <a:latin typeface="Courier New" pitchFamily="34" charset="0"/>
                <a:ea typeface="Courier New" pitchFamily="34" charset="-122"/>
                <a:cs typeface="Courier New" pitchFamily="34" charset="-120"/>
              </a:rPr>
              <a:t>]</a:t>
            </a:r>
            <a:endParaRPr lang="en-US" sz="1650" dirty="0"/>
          </a:p>
        </p:txBody>
      </p:sp>
      <p:sp>
        <p:nvSpPr>
          <p:cNvPr id="9" name="Text 7"/>
          <p:cNvSpPr/>
          <p:nvPr/>
        </p:nvSpPr>
        <p:spPr>
          <a:xfrm>
            <a:off x="10652165" y="4176712"/>
            <a:ext cx="6785728"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STAGE 1</a:t>
            </a:r>
            <a:endParaRPr lang="en-US" sz="1950" dirty="0"/>
          </a:p>
        </p:txBody>
      </p:sp>
      <p:sp>
        <p:nvSpPr>
          <p:cNvPr id="10" name="Text 8"/>
          <p:cNvSpPr/>
          <p:nvPr/>
        </p:nvSpPr>
        <p:spPr>
          <a:xfrm>
            <a:off x="10652165" y="4568190"/>
            <a:ext cx="6785728"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b="1" dirty="0">
                <a:solidFill>
                  <a:srgbClr val="1B1E25"/>
                </a:solidFill>
                <a:latin typeface="Arial" pitchFamily="34" charset="0"/>
                <a:ea typeface="Arial" pitchFamily="34" charset="-122"/>
                <a:cs typeface="Arial" pitchFamily="34" charset="-120"/>
              </a:rPr>
              <a:t>Compiler</a:t>
            </a:r>
            <a:endParaRPr lang="en-US" sz="2250" dirty="0"/>
          </a:p>
        </p:txBody>
      </p:sp>
      <p:sp>
        <p:nvSpPr>
          <p:cNvPr id="11" name="Text 9"/>
          <p:cNvSpPr/>
          <p:nvPr/>
        </p:nvSpPr>
        <p:spPr>
          <a:xfrm>
            <a:off x="10652165" y="5030153"/>
            <a:ext cx="6785728"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3A3E48"/>
                </a:solidFill>
                <a:latin typeface="Arial" pitchFamily="34" charset="0"/>
                <a:ea typeface="Arial" pitchFamily="34" charset="-122"/>
                <a:cs typeface="Arial" pitchFamily="34" charset="-120"/>
              </a:rPr>
              <a:t>Image SDK lourde (~700 Mo) avec tous les outils .NET.</a:t>
            </a:r>
            <a:endParaRPr lang="en-US" sz="1950" dirty="0"/>
          </a:p>
        </p:txBody>
      </p:sp>
      <p:sp>
        <p:nvSpPr>
          <p:cNvPr id="12" name="Text 10"/>
          <p:cNvSpPr/>
          <p:nvPr/>
        </p:nvSpPr>
        <p:spPr>
          <a:xfrm>
            <a:off x="10652165" y="5593080"/>
            <a:ext cx="6785728"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STAGE 2</a:t>
            </a:r>
            <a:endParaRPr lang="en-US" sz="1950" dirty="0"/>
          </a:p>
        </p:txBody>
      </p:sp>
      <p:sp>
        <p:nvSpPr>
          <p:cNvPr id="13" name="Text 11"/>
          <p:cNvSpPr/>
          <p:nvPr/>
        </p:nvSpPr>
        <p:spPr>
          <a:xfrm>
            <a:off x="10652165" y="5984557"/>
            <a:ext cx="6785728"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b="1" dirty="0">
                <a:solidFill>
                  <a:srgbClr val="1B1E25"/>
                </a:solidFill>
                <a:latin typeface="Arial" pitchFamily="34" charset="0"/>
                <a:ea typeface="Arial" pitchFamily="34" charset="-122"/>
                <a:cs typeface="Arial" pitchFamily="34" charset="-120"/>
              </a:rPr>
              <a:t>Exécuter</a:t>
            </a:r>
            <a:endParaRPr lang="en-US" sz="2250" dirty="0"/>
          </a:p>
        </p:txBody>
      </p:sp>
      <p:sp>
        <p:nvSpPr>
          <p:cNvPr id="14" name="Text 12"/>
          <p:cNvSpPr/>
          <p:nvPr/>
        </p:nvSpPr>
        <p:spPr>
          <a:xfrm>
            <a:off x="10652165" y="6446520"/>
            <a:ext cx="6785728" cy="706755"/>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3A3E48"/>
                </a:solidFill>
                <a:latin typeface="Arial" pitchFamily="34" charset="0"/>
                <a:ea typeface="Arial" pitchFamily="34" charset="-122"/>
                <a:cs typeface="Arial" pitchFamily="34" charset="-120"/>
              </a:rPr>
              <a:t>Image runtime fine (~200 Mo). On copie juste le binaire compilé.</a:t>
            </a:r>
            <a:endParaRPr lang="en-US" sz="1950" dirty="0"/>
          </a:p>
        </p:txBody>
      </p:sp>
      <p:sp>
        <p:nvSpPr>
          <p:cNvPr id="15" name="Shape 13"/>
          <p:cNvSpPr/>
          <p:nvPr/>
        </p:nvSpPr>
        <p:spPr>
          <a:xfrm>
            <a:off x="10652165" y="7343775"/>
            <a:ext cx="6588086" cy="9525"/>
          </a:xfrm>
          <a:prstGeom prst="rect">
            <a:avLst/>
          </a:prstGeom>
          <a:solidFill>
            <a:srgbClr val="D9D2BF"/>
          </a:solidFill>
          <a:ln/>
        </p:spPr>
      </p:sp>
      <p:sp>
        <p:nvSpPr>
          <p:cNvPr id="16" name="Text 14"/>
          <p:cNvSpPr/>
          <p:nvPr/>
        </p:nvSpPr>
        <p:spPr>
          <a:xfrm>
            <a:off x="10652165" y="7579995"/>
            <a:ext cx="6785728"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Courier New" pitchFamily="34" charset="0"/>
                <a:ea typeface="Courier New" pitchFamily="34" charset="-122"/>
                <a:cs typeface="Courier New" pitchFamily="34" charset="-120"/>
              </a:rPr>
              <a:t>Bénéfices</a:t>
            </a:r>
            <a:endParaRPr lang="en-US" sz="1950" dirty="0"/>
          </a:p>
        </p:txBody>
      </p:sp>
      <p:sp>
        <p:nvSpPr>
          <p:cNvPr id="17" name="Text 15"/>
          <p:cNvSpPr/>
          <p:nvPr/>
        </p:nvSpPr>
        <p:spPr>
          <a:xfrm>
            <a:off x="10492145" y="8009573"/>
            <a:ext cx="6824306" cy="1135380"/>
          </a:xfrm>
          <a:prstGeom prst="rect">
            <a:avLst/>
          </a:prstGeom>
          <a:noFill/>
          <a:ln/>
        </p:spPr>
        <p:txBody>
          <a:bodyPr wrap="square" lIns="25400" tIns="25400" rIns="25400" bIns="25400" rtlCol="0" anchor="t">
            <a:normAutofit/>
          </a:bodyPr>
          <a:lstStyle/>
          <a:p>
            <a:pPr marL="0" indent="0" algn="l">
              <a:lnSpc>
                <a:spcPct val="160000"/>
              </a:lnSpc>
              <a:buNone/>
            </a:pPr>
            <a:r>
              <a:rPr lang="en-US" sz="1800" dirty="0">
                <a:solidFill>
                  <a:srgbClr val="3A3E48"/>
                </a:solidFill>
                <a:latin typeface="Arial" pitchFamily="34" charset="0"/>
                <a:ea typeface="Arial" pitchFamily="34" charset="-122"/>
                <a:cs typeface="Arial" pitchFamily="34" charset="-120"/>
              </a:rPr>
              <a:t>· Image finale 3× plus légère</a:t>
            </a:r>
            <a:endParaRPr lang="en-US" sz="1800" dirty="0"/>
          </a:p>
          <a:p>
            <a:pPr marL="0" indent="0" algn="l">
              <a:lnSpc>
                <a:spcPct val="160000"/>
              </a:lnSpc>
              <a:buNone/>
            </a:pPr>
            <a:r>
              <a:rPr lang="en-US" sz="1800" dirty="0">
                <a:solidFill>
                  <a:srgbClr val="3A3E48"/>
                </a:solidFill>
                <a:latin typeface="Arial" pitchFamily="34" charset="0"/>
                <a:ea typeface="Arial" pitchFamily="34" charset="-122"/>
                <a:cs typeface="Arial" pitchFamily="34" charset="-120"/>
              </a:rPr>
              <a:t>· Aucun code source en prod</a:t>
            </a:r>
            <a:endParaRPr lang="en-US" sz="1800" dirty="0"/>
          </a:p>
          <a:p>
            <a:pPr marL="0" indent="0" algn="l">
              <a:lnSpc>
                <a:spcPct val="160000"/>
              </a:lnSpc>
              <a:buNone/>
            </a:pPr>
            <a:r>
              <a:rPr lang="en-US" sz="1800" dirty="0">
                <a:solidFill>
                  <a:srgbClr val="3A3E48"/>
                </a:solidFill>
                <a:latin typeface="Arial" pitchFamily="34" charset="0"/>
                <a:ea typeface="Arial" pitchFamily="34" charset="-122"/>
                <a:cs typeface="Arial" pitchFamily="34" charset="-120"/>
              </a:rPr>
              <a:t>· Surface d'attaque réduite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217"/>
        </a:solidFill>
        <a:effectLst/>
      </p:bgPr>
    </p:bg>
    <p:spTree>
      <p:nvGrpSpPr>
        <p:cNvPr id="1" name=""/>
        <p:cNvGrpSpPr/>
        <p:nvPr/>
      </p:nvGrpSpPr>
      <p:grpSpPr>
        <a:xfrm>
          <a:off x="0" y="0"/>
          <a:ext cx="0" cy="0"/>
          <a:chOff x="0" y="0"/>
          <a:chExt cx="0" cy="0"/>
        </a:xfrm>
      </p:grpSpPr>
      <p:sp>
        <p:nvSpPr>
          <p:cNvPr id="2" name="Text 0"/>
          <p:cNvSpPr/>
          <p:nvPr/>
        </p:nvSpPr>
        <p:spPr>
          <a:xfrm>
            <a:off x="1047750" y="419100"/>
            <a:ext cx="139315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9AA0AB"/>
                </a:solidFill>
                <a:latin typeface="Courier New" pitchFamily="34" charset="0"/>
                <a:ea typeface="Courier New" pitchFamily="34" charset="-122"/>
                <a:cs typeface="Courier New" pitchFamily="34" charset="-120"/>
              </a:rPr>
              <a:t>12 — ÉTAPE 3</a:t>
            </a:r>
            <a:endParaRPr lang="en-US" sz="1350" dirty="0"/>
          </a:p>
        </p:txBody>
      </p:sp>
      <p:sp>
        <p:nvSpPr>
          <p:cNvPr id="3" name="Shape 1"/>
          <p:cNvSpPr/>
          <p:nvPr/>
        </p:nvSpPr>
        <p:spPr>
          <a:xfrm>
            <a:off x="16224290" y="496729"/>
            <a:ext cx="76200" cy="76200"/>
          </a:xfrm>
          <a:prstGeom prst="ellipse">
            <a:avLst/>
          </a:prstGeom>
          <a:solidFill>
            <a:srgbClr val="F1EDE2"/>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9AA0AB"/>
                </a:solidFill>
                <a:latin typeface="Courier New" pitchFamily="34" charset="0"/>
                <a:ea typeface="Courier New" pitchFamily="34" charset="-122"/>
                <a:cs typeface="Courier New" pitchFamily="34" charset="-120"/>
              </a:rPr>
              <a:t>12 / 18</a:t>
            </a:r>
            <a:endParaRPr lang="en-US" sz="1350" dirty="0"/>
          </a:p>
        </p:txBody>
      </p:sp>
      <p:sp>
        <p:nvSpPr>
          <p:cNvPr id="5" name="Text 3"/>
          <p:cNvSpPr/>
          <p:nvPr/>
        </p:nvSpPr>
        <p:spPr>
          <a:xfrm>
            <a:off x="1047750" y="3392805"/>
            <a:ext cx="3516663" cy="449580"/>
          </a:xfrm>
          <a:prstGeom prst="rect">
            <a:avLst/>
          </a:prstGeom>
          <a:noFill/>
          <a:ln/>
        </p:spPr>
        <p:txBody>
          <a:bodyPr wrap="square" lIns="25400" tIns="25400" rIns="25400" bIns="25400" rtlCol="0" anchor="t">
            <a:normAutofit/>
          </a:bodyPr>
          <a:lstStyle/>
          <a:p>
            <a:pPr marL="0" indent="0" algn="l">
              <a:lnSpc>
                <a:spcPct val="135000"/>
              </a:lnSpc>
              <a:buNone/>
            </a:pPr>
            <a:r>
              <a:rPr lang="en-US" sz="2400" kern="0" spc="240" dirty="0">
                <a:solidFill>
                  <a:srgbClr val="2A5FD9"/>
                </a:solidFill>
                <a:latin typeface="Courier New" pitchFamily="34" charset="0"/>
                <a:ea typeface="Courier New" pitchFamily="34" charset="-122"/>
                <a:cs typeface="Courier New" pitchFamily="34" charset="-120"/>
              </a:rPr>
              <a:t>03 — PERSISTANCE</a:t>
            </a:r>
            <a:endParaRPr lang="en-US" sz="2400" dirty="0"/>
          </a:p>
        </p:txBody>
      </p:sp>
      <p:sp>
        <p:nvSpPr>
          <p:cNvPr id="6" name="Text 4"/>
          <p:cNvSpPr/>
          <p:nvPr/>
        </p:nvSpPr>
        <p:spPr>
          <a:xfrm>
            <a:off x="1047750" y="4185285"/>
            <a:ext cx="4911262" cy="1203960"/>
          </a:xfrm>
          <a:prstGeom prst="rect">
            <a:avLst/>
          </a:prstGeom>
          <a:noFill/>
          <a:ln/>
        </p:spPr>
        <p:txBody>
          <a:bodyPr wrap="square" lIns="25400" tIns="25400" rIns="25400" bIns="25400" rtlCol="0" anchor="t">
            <a:normAutofit/>
          </a:bodyPr>
          <a:lstStyle/>
          <a:p>
            <a:pPr marL="0" indent="0" algn="l">
              <a:lnSpc>
                <a:spcPct val="102000"/>
              </a:lnSpc>
              <a:buNone/>
            </a:pPr>
            <a:r>
              <a:rPr lang="en-US" sz="9000" b="1" kern="0" spc="-225" dirty="0">
                <a:solidFill>
                  <a:srgbClr val="F1EDE2"/>
                </a:solidFill>
                <a:latin typeface="Arial" pitchFamily="34" charset="0"/>
                <a:ea typeface="Arial" pitchFamily="34" charset="-122"/>
                <a:cs typeface="Arial" pitchFamily="34" charset="-120"/>
              </a:rPr>
              <a:t>Volumes.</a:t>
            </a:r>
            <a:endParaRPr lang="en-US" sz="9000" dirty="0"/>
          </a:p>
        </p:txBody>
      </p:sp>
      <p:sp>
        <p:nvSpPr>
          <p:cNvPr id="7" name="Text 5"/>
          <p:cNvSpPr/>
          <p:nvPr/>
        </p:nvSpPr>
        <p:spPr>
          <a:xfrm>
            <a:off x="1047750" y="5960745"/>
            <a:ext cx="11692085" cy="1028700"/>
          </a:xfrm>
          <a:prstGeom prst="rect">
            <a:avLst/>
          </a:prstGeom>
          <a:noFill/>
          <a:ln/>
        </p:spPr>
        <p:txBody>
          <a:bodyPr wrap="square" lIns="25400" tIns="25400" rIns="25400" bIns="25400" rtlCol="0" anchor="t">
            <a:normAutofit/>
          </a:bodyPr>
          <a:lstStyle/>
          <a:p>
            <a:pPr marL="0" indent="0" algn="l">
              <a:lnSpc>
                <a:spcPct val="130000"/>
              </a:lnSpc>
              <a:buNone/>
            </a:pPr>
            <a:r>
              <a:rPr lang="en-US" sz="3000" dirty="0">
                <a:solidFill>
                  <a:srgbClr val="9AA0AB"/>
                </a:solidFill>
                <a:latin typeface="Arial" pitchFamily="34" charset="0"/>
                <a:ea typeface="Arial" pitchFamily="34" charset="-122"/>
                <a:cs typeface="Arial" pitchFamily="34" charset="-120"/>
              </a:rPr>
              <a:t>Un conteneur est éphémère. Quand il meurt, tout disparaît avec lui. Sauf ce qu'on a posé dans un volume.</a:t>
            </a:r>
            <a:endParaRPr lang="en-US"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1047750" y="419100"/>
            <a:ext cx="2600444"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12 · VOLUMES / POURQUOI</a:t>
            </a:r>
            <a:endParaRPr lang="en-US" sz="1350" dirty="0"/>
          </a:p>
        </p:txBody>
      </p:sp>
      <p:sp>
        <p:nvSpPr>
          <p:cNvPr id="3" name="Shape 1"/>
          <p:cNvSpPr/>
          <p:nvPr/>
        </p:nvSpPr>
        <p:spPr>
          <a:xfrm>
            <a:off x="16224290" y="496729"/>
            <a:ext cx="76200" cy="76200"/>
          </a:xfrm>
          <a:prstGeom prst="ellipse">
            <a:avLst/>
          </a:prstGeom>
          <a:solidFill>
            <a:srgbClr val="2A5FD9"/>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13 / 18</a:t>
            </a:r>
            <a:endParaRPr lang="en-US" sz="1350" dirty="0"/>
          </a:p>
        </p:txBody>
      </p:sp>
      <p:sp>
        <p:nvSpPr>
          <p:cNvPr id="5" name="Text 3"/>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LE PROBLÈME</a:t>
            </a:r>
            <a:endParaRPr lang="en-US" sz="1650" dirty="0"/>
          </a:p>
        </p:txBody>
      </p:sp>
      <p:sp>
        <p:nvSpPr>
          <p:cNvPr id="6" name="Text 4"/>
          <p:cNvSpPr/>
          <p:nvPr/>
        </p:nvSpPr>
        <p:spPr>
          <a:xfrm>
            <a:off x="1047750" y="1368742"/>
            <a:ext cx="16678275" cy="147828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1B1E25"/>
                </a:solidFill>
                <a:latin typeface="Arial" pitchFamily="34" charset="0"/>
                <a:ea typeface="Arial" pitchFamily="34" charset="-122"/>
                <a:cs typeface="Arial" pitchFamily="34" charset="-120"/>
              </a:rPr>
              <a:t>Sans volume, redémarrer = repartir de zéro. Et personne ne veut perdre la base étudiants.</a:t>
            </a:r>
            <a:endParaRPr lang="en-US" sz="5400" dirty="0"/>
          </a:p>
        </p:txBody>
      </p:sp>
      <p:sp>
        <p:nvSpPr>
          <p:cNvPr id="7" name="Shape 5"/>
          <p:cNvSpPr/>
          <p:nvPr/>
        </p:nvSpPr>
        <p:spPr>
          <a:xfrm>
            <a:off x="1047750" y="3342322"/>
            <a:ext cx="7898130" cy="6087428"/>
          </a:xfrm>
          <a:prstGeom prst="roundRect">
            <a:avLst>
              <a:gd name="adj" fmla="val 2816"/>
            </a:avLst>
          </a:prstGeom>
          <a:solidFill>
            <a:srgbClr val="ECE6D6"/>
          </a:solidFill>
          <a:ln/>
        </p:spPr>
      </p:sp>
      <p:sp>
        <p:nvSpPr>
          <p:cNvPr id="8" name="Text 6"/>
          <p:cNvSpPr/>
          <p:nvPr/>
        </p:nvSpPr>
        <p:spPr>
          <a:xfrm>
            <a:off x="1466850" y="3723322"/>
            <a:ext cx="7271728"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C8612B"/>
                </a:solidFill>
                <a:latin typeface="Courier New" pitchFamily="34" charset="0"/>
                <a:ea typeface="Courier New" pitchFamily="34" charset="-122"/>
                <a:cs typeface="Courier New" pitchFamily="34" charset="-120"/>
              </a:rPr>
              <a:t>— SANS VOLUME</a:t>
            </a:r>
            <a:endParaRPr lang="en-US" sz="1950" dirty="0"/>
          </a:p>
        </p:txBody>
      </p:sp>
      <p:sp>
        <p:nvSpPr>
          <p:cNvPr id="9" name="Text 7"/>
          <p:cNvSpPr/>
          <p:nvPr/>
        </p:nvSpPr>
        <p:spPr>
          <a:xfrm>
            <a:off x="1466850" y="4229100"/>
            <a:ext cx="7271728" cy="501015"/>
          </a:xfrm>
          <a:prstGeom prst="rect">
            <a:avLst/>
          </a:prstGeom>
          <a:noFill/>
          <a:ln/>
        </p:spPr>
        <p:txBody>
          <a:bodyPr wrap="square" lIns="25400" tIns="25400" rIns="25400" bIns="25400" rtlCol="0" anchor="t">
            <a:normAutofit/>
          </a:bodyPr>
          <a:lstStyle/>
          <a:p>
            <a:pPr marL="0" indent="0" algn="l">
              <a:lnSpc>
                <a:spcPct val="135000"/>
              </a:lnSpc>
              <a:buNone/>
            </a:pPr>
            <a:r>
              <a:rPr lang="en-US" sz="2700" b="1" kern="0" spc="-40" dirty="0">
                <a:solidFill>
                  <a:srgbClr val="1B1E25"/>
                </a:solidFill>
                <a:latin typeface="Arial" pitchFamily="34" charset="0"/>
                <a:ea typeface="Arial" pitchFamily="34" charset="-122"/>
                <a:cs typeface="Arial" pitchFamily="34" charset="-120"/>
              </a:rPr>
              <a:t>Données = jetables</a:t>
            </a:r>
            <a:endParaRPr lang="en-US" sz="2700" dirty="0"/>
          </a:p>
        </p:txBody>
      </p:sp>
      <p:pic>
        <p:nvPicPr>
          <p:cNvPr id="10" name="Image 0" descr="preencoded.png"/>
          <p:cNvPicPr>
            <a:picLocks noChangeAspect="1"/>
          </p:cNvPicPr>
          <p:nvPr/>
        </p:nvPicPr>
        <p:blipFill>
          <a:blip r:embed="rId3"/>
          <a:stretch>
            <a:fillRect/>
          </a:stretch>
        </p:blipFill>
        <p:spPr>
          <a:xfrm>
            <a:off x="3187065" y="5623560"/>
            <a:ext cx="3619500" cy="1809750"/>
          </a:xfrm>
          <a:prstGeom prst="rect">
            <a:avLst/>
          </a:prstGeom>
        </p:spPr>
      </p:pic>
      <p:sp>
        <p:nvSpPr>
          <p:cNvPr id="11" name="Text 8"/>
          <p:cNvSpPr/>
          <p:nvPr/>
        </p:nvSpPr>
        <p:spPr>
          <a:xfrm>
            <a:off x="1466850" y="8364855"/>
            <a:ext cx="7271728" cy="721995"/>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3A3E48"/>
                </a:solidFill>
                <a:latin typeface="Arial" pitchFamily="34" charset="0"/>
                <a:ea typeface="Arial" pitchFamily="34" charset="-122"/>
                <a:cs typeface="Arial" pitchFamily="34" charset="-120"/>
              </a:rPr>
              <a:t>Les fichiers SQL vivent dans la couche écrivable du conteneur. </a:t>
            </a:r>
            <a:r>
              <a:rPr lang="en-US" sz="1950" dirty="0">
                <a:solidFill>
                  <a:srgbClr val="3A3E48"/>
                </a:solidFill>
                <a:latin typeface="Courier New" pitchFamily="34" charset="0"/>
                <a:ea typeface="Courier New" pitchFamily="34" charset="-122"/>
                <a:cs typeface="Courier New" pitchFamily="34" charset="-120"/>
              </a:rPr>
              <a:t>docker compose down </a:t>
            </a:r>
            <a:r>
              <a:rPr lang="en-US" sz="1950" dirty="0">
                <a:solidFill>
                  <a:srgbClr val="3A3E48"/>
                </a:solidFill>
                <a:latin typeface="Arial" pitchFamily="34" charset="0"/>
                <a:ea typeface="Arial" pitchFamily="34" charset="-122"/>
                <a:cs typeface="Arial" pitchFamily="34" charset="-120"/>
              </a:rPr>
              <a:t>et c'est fini.</a:t>
            </a:r>
            <a:endParaRPr lang="en-US" sz="1950" dirty="0"/>
          </a:p>
        </p:txBody>
      </p:sp>
      <p:sp>
        <p:nvSpPr>
          <p:cNvPr id="12" name="Shape 9"/>
          <p:cNvSpPr/>
          <p:nvPr/>
        </p:nvSpPr>
        <p:spPr>
          <a:xfrm>
            <a:off x="9326880" y="3342322"/>
            <a:ext cx="7913370" cy="6087428"/>
          </a:xfrm>
          <a:prstGeom prst="roundRect">
            <a:avLst>
              <a:gd name="adj" fmla="val 2816"/>
            </a:avLst>
          </a:prstGeom>
          <a:solidFill>
            <a:srgbClr val="DDE6FB"/>
          </a:solidFill>
          <a:ln w="7620">
            <a:solidFill>
              <a:srgbClr val="C4D4F7"/>
            </a:solidFill>
            <a:prstDash val="solid"/>
          </a:ln>
        </p:spPr>
      </p:sp>
      <p:sp>
        <p:nvSpPr>
          <p:cNvPr id="13" name="Text 10"/>
          <p:cNvSpPr/>
          <p:nvPr/>
        </p:nvSpPr>
        <p:spPr>
          <a:xfrm>
            <a:off x="9753600" y="3730943"/>
            <a:ext cx="7271728"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 AVEC VOLUME NOMMÉ</a:t>
            </a:r>
            <a:endParaRPr lang="en-US" sz="1950" dirty="0"/>
          </a:p>
        </p:txBody>
      </p:sp>
      <p:sp>
        <p:nvSpPr>
          <p:cNvPr id="14" name="Text 11"/>
          <p:cNvSpPr/>
          <p:nvPr/>
        </p:nvSpPr>
        <p:spPr>
          <a:xfrm>
            <a:off x="9753600" y="4236720"/>
            <a:ext cx="7271728" cy="501015"/>
          </a:xfrm>
          <a:prstGeom prst="rect">
            <a:avLst/>
          </a:prstGeom>
          <a:noFill/>
          <a:ln/>
        </p:spPr>
        <p:txBody>
          <a:bodyPr wrap="square" lIns="25400" tIns="25400" rIns="25400" bIns="25400" rtlCol="0" anchor="t">
            <a:normAutofit/>
          </a:bodyPr>
          <a:lstStyle/>
          <a:p>
            <a:pPr marL="0" indent="0" algn="l">
              <a:lnSpc>
                <a:spcPct val="135000"/>
              </a:lnSpc>
              <a:buNone/>
            </a:pPr>
            <a:r>
              <a:rPr lang="en-US" sz="2700" b="1" kern="0" spc="-40" dirty="0">
                <a:solidFill>
                  <a:srgbClr val="1B1E25"/>
                </a:solidFill>
                <a:latin typeface="Arial" pitchFamily="34" charset="0"/>
                <a:ea typeface="Arial" pitchFamily="34" charset="-122"/>
                <a:cs typeface="Arial" pitchFamily="34" charset="-120"/>
              </a:rPr>
              <a:t>Données = persistantes</a:t>
            </a:r>
            <a:endParaRPr lang="en-US" sz="2700" dirty="0"/>
          </a:p>
        </p:txBody>
      </p:sp>
      <p:pic>
        <p:nvPicPr>
          <p:cNvPr id="15" name="Image 1" descr="preencoded.png"/>
          <p:cNvPicPr>
            <a:picLocks noChangeAspect="1"/>
          </p:cNvPicPr>
          <p:nvPr/>
        </p:nvPicPr>
        <p:blipFill>
          <a:blip r:embed="rId4"/>
          <a:stretch>
            <a:fillRect/>
          </a:stretch>
        </p:blipFill>
        <p:spPr>
          <a:xfrm>
            <a:off x="11473815" y="5631180"/>
            <a:ext cx="3619500" cy="1809750"/>
          </a:xfrm>
          <a:prstGeom prst="rect">
            <a:avLst/>
          </a:prstGeom>
        </p:spPr>
      </p:pic>
      <p:sp>
        <p:nvSpPr>
          <p:cNvPr id="16" name="Text 12"/>
          <p:cNvSpPr/>
          <p:nvPr/>
        </p:nvSpPr>
        <p:spPr>
          <a:xfrm>
            <a:off x="9753600" y="8372475"/>
            <a:ext cx="7271728" cy="706755"/>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3A3E48"/>
                </a:solidFill>
                <a:latin typeface="Arial" pitchFamily="34" charset="0"/>
                <a:ea typeface="Arial" pitchFamily="34" charset="-122"/>
                <a:cs typeface="Arial" pitchFamily="34" charset="-120"/>
              </a:rPr>
              <a:t>Les fichiers vivent dans un volume géré par Docker. Le conteneur peut être détruit — les données survivent.</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1047750" y="419100"/>
            <a:ext cx="2380893"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12 · VOLUMES / PROJET</a:t>
            </a:r>
            <a:endParaRPr lang="en-US" sz="1350" dirty="0"/>
          </a:p>
        </p:txBody>
      </p:sp>
      <p:sp>
        <p:nvSpPr>
          <p:cNvPr id="3" name="Shape 1"/>
          <p:cNvSpPr/>
          <p:nvPr/>
        </p:nvSpPr>
        <p:spPr>
          <a:xfrm>
            <a:off x="16224290" y="496729"/>
            <a:ext cx="76200" cy="76200"/>
          </a:xfrm>
          <a:prstGeom prst="ellipse">
            <a:avLst/>
          </a:prstGeom>
          <a:solidFill>
            <a:srgbClr val="2A5FD9"/>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14 / 18</a:t>
            </a:r>
            <a:endParaRPr lang="en-US" sz="1350" dirty="0"/>
          </a:p>
        </p:txBody>
      </p:sp>
      <p:sp>
        <p:nvSpPr>
          <p:cNvPr id="5" name="Text 3"/>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DANS NOTRE DOCKER-COMPOSE.YML</a:t>
            </a:r>
            <a:endParaRPr lang="en-US" sz="1650" dirty="0"/>
          </a:p>
        </p:txBody>
      </p:sp>
      <p:sp>
        <p:nvSpPr>
          <p:cNvPr id="6" name="Text 4"/>
          <p:cNvSpPr/>
          <p:nvPr/>
        </p:nvSpPr>
        <p:spPr>
          <a:xfrm>
            <a:off x="1047750" y="1368742"/>
            <a:ext cx="16678275" cy="147828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1B1E25"/>
                </a:solidFill>
                <a:latin typeface="Arial" pitchFamily="34" charset="0"/>
                <a:ea typeface="Arial" pitchFamily="34" charset="-122"/>
                <a:cs typeface="Arial" pitchFamily="34" charset="-120"/>
              </a:rPr>
              <a:t>Deux volumes nommés. Deux services qu'on ne veut surtout pas perdre.</a:t>
            </a:r>
            <a:endParaRPr lang="en-US" sz="5400" dirty="0"/>
          </a:p>
        </p:txBody>
      </p:sp>
      <p:sp>
        <p:nvSpPr>
          <p:cNvPr id="7" name="Shape 5"/>
          <p:cNvSpPr/>
          <p:nvPr/>
        </p:nvSpPr>
        <p:spPr>
          <a:xfrm>
            <a:off x="1047750" y="4179570"/>
            <a:ext cx="4533900" cy="9525"/>
          </a:xfrm>
          <a:prstGeom prst="rect">
            <a:avLst/>
          </a:prstGeom>
          <a:solidFill>
            <a:srgbClr val="D9D2BF"/>
          </a:solidFill>
          <a:ln/>
        </p:spPr>
      </p:sp>
      <p:sp>
        <p:nvSpPr>
          <p:cNvPr id="8" name="Text 6"/>
          <p:cNvSpPr/>
          <p:nvPr/>
        </p:nvSpPr>
        <p:spPr>
          <a:xfrm>
            <a:off x="1238250" y="3742372"/>
            <a:ext cx="4288917" cy="26574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108" dirty="0">
                <a:solidFill>
                  <a:srgbClr val="6E7280"/>
                </a:solidFill>
                <a:latin typeface="Courier New" pitchFamily="34" charset="0"/>
                <a:ea typeface="Courier New" pitchFamily="34" charset="-122"/>
                <a:cs typeface="Courier New" pitchFamily="34" charset="-120"/>
              </a:rPr>
              <a:t>VOLUME</a:t>
            </a:r>
            <a:endParaRPr lang="en-US" sz="1350" dirty="0"/>
          </a:p>
        </p:txBody>
      </p:sp>
      <p:sp>
        <p:nvSpPr>
          <p:cNvPr id="9" name="Shape 7"/>
          <p:cNvSpPr/>
          <p:nvPr/>
        </p:nvSpPr>
        <p:spPr>
          <a:xfrm>
            <a:off x="5581650" y="4179570"/>
            <a:ext cx="3562350" cy="9525"/>
          </a:xfrm>
          <a:prstGeom prst="rect">
            <a:avLst/>
          </a:prstGeom>
          <a:solidFill>
            <a:srgbClr val="D9D2BF"/>
          </a:solidFill>
          <a:ln/>
        </p:spPr>
      </p:sp>
      <p:sp>
        <p:nvSpPr>
          <p:cNvPr id="10" name="Text 8"/>
          <p:cNvSpPr/>
          <p:nvPr/>
        </p:nvSpPr>
        <p:spPr>
          <a:xfrm>
            <a:off x="5772150" y="3742372"/>
            <a:ext cx="3288221" cy="26574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108" dirty="0">
                <a:solidFill>
                  <a:srgbClr val="6E7280"/>
                </a:solidFill>
                <a:latin typeface="Courier New" pitchFamily="34" charset="0"/>
                <a:ea typeface="Courier New" pitchFamily="34" charset="-122"/>
                <a:cs typeface="Courier New" pitchFamily="34" charset="-120"/>
              </a:rPr>
              <a:t>SERVICE</a:t>
            </a:r>
            <a:endParaRPr lang="en-US" sz="1350" dirty="0"/>
          </a:p>
        </p:txBody>
      </p:sp>
      <p:sp>
        <p:nvSpPr>
          <p:cNvPr id="11" name="Shape 9"/>
          <p:cNvSpPr/>
          <p:nvPr/>
        </p:nvSpPr>
        <p:spPr>
          <a:xfrm>
            <a:off x="9144000" y="4179570"/>
            <a:ext cx="4048125" cy="9525"/>
          </a:xfrm>
          <a:prstGeom prst="rect">
            <a:avLst/>
          </a:prstGeom>
          <a:solidFill>
            <a:srgbClr val="D9D2BF"/>
          </a:solidFill>
          <a:ln/>
        </p:spPr>
      </p:sp>
      <p:sp>
        <p:nvSpPr>
          <p:cNvPr id="12" name="Text 10"/>
          <p:cNvSpPr/>
          <p:nvPr/>
        </p:nvSpPr>
        <p:spPr>
          <a:xfrm>
            <a:off x="9334500" y="3742372"/>
            <a:ext cx="3788569" cy="26574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108" dirty="0">
                <a:solidFill>
                  <a:srgbClr val="6E7280"/>
                </a:solidFill>
                <a:latin typeface="Courier New" pitchFamily="34" charset="0"/>
                <a:ea typeface="Courier New" pitchFamily="34" charset="-122"/>
                <a:cs typeface="Courier New" pitchFamily="34" charset="-120"/>
              </a:rPr>
              <a:t>MONTAGE</a:t>
            </a:r>
            <a:endParaRPr lang="en-US" sz="1350" dirty="0"/>
          </a:p>
        </p:txBody>
      </p:sp>
      <p:sp>
        <p:nvSpPr>
          <p:cNvPr id="13" name="Shape 11"/>
          <p:cNvSpPr/>
          <p:nvPr/>
        </p:nvSpPr>
        <p:spPr>
          <a:xfrm>
            <a:off x="13192125" y="4179570"/>
            <a:ext cx="4048125" cy="9525"/>
          </a:xfrm>
          <a:prstGeom prst="rect">
            <a:avLst/>
          </a:prstGeom>
          <a:solidFill>
            <a:srgbClr val="D9D2BF"/>
          </a:solidFill>
          <a:ln/>
        </p:spPr>
      </p:sp>
      <p:sp>
        <p:nvSpPr>
          <p:cNvPr id="14" name="Text 12"/>
          <p:cNvSpPr/>
          <p:nvPr/>
        </p:nvSpPr>
        <p:spPr>
          <a:xfrm>
            <a:off x="13382625" y="3742372"/>
            <a:ext cx="3788569" cy="26574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108" dirty="0">
                <a:solidFill>
                  <a:srgbClr val="6E7280"/>
                </a:solidFill>
                <a:latin typeface="Courier New" pitchFamily="34" charset="0"/>
                <a:ea typeface="Courier New" pitchFamily="34" charset="-122"/>
                <a:cs typeface="Courier New" pitchFamily="34" charset="-120"/>
              </a:rPr>
              <a:t>POURQUOI C'EST VITAL</a:t>
            </a:r>
            <a:endParaRPr lang="en-US" sz="1350" dirty="0"/>
          </a:p>
        </p:txBody>
      </p:sp>
      <p:sp>
        <p:nvSpPr>
          <p:cNvPr id="15" name="Shape 13"/>
          <p:cNvSpPr/>
          <p:nvPr/>
        </p:nvSpPr>
        <p:spPr>
          <a:xfrm>
            <a:off x="1047750" y="5943600"/>
            <a:ext cx="4533900" cy="9525"/>
          </a:xfrm>
          <a:prstGeom prst="rect">
            <a:avLst/>
          </a:prstGeom>
          <a:solidFill>
            <a:srgbClr val="D9D2BF"/>
          </a:solidFill>
          <a:ln/>
        </p:spPr>
      </p:sp>
      <p:sp>
        <p:nvSpPr>
          <p:cNvPr id="16" name="Text 14"/>
          <p:cNvSpPr/>
          <p:nvPr/>
        </p:nvSpPr>
        <p:spPr>
          <a:xfrm>
            <a:off x="1238250" y="4396740"/>
            <a:ext cx="4288917" cy="1375410"/>
          </a:xfrm>
          <a:prstGeom prst="rect">
            <a:avLst/>
          </a:prstGeom>
          <a:noFill/>
          <a:ln/>
        </p:spPr>
        <p:txBody>
          <a:bodyPr wrap="square" lIns="25400" tIns="25400" rIns="25400" bIns="25400" rtlCol="0" anchor="t">
            <a:normAutofit/>
          </a:bodyPr>
          <a:lstStyle/>
          <a:p>
            <a:pPr marL="0" indent="0" algn="l">
              <a:lnSpc>
                <a:spcPct val="135000"/>
              </a:lnSpc>
              <a:buNone/>
            </a:pPr>
            <a:r>
              <a:rPr lang="en-US" sz="1725" dirty="0">
                <a:solidFill>
                  <a:srgbClr val="2A5FD9"/>
                </a:solidFill>
                <a:latin typeface="Courier New" pitchFamily="34" charset="0"/>
                <a:ea typeface="Courier New" pitchFamily="34" charset="-122"/>
                <a:cs typeface="Courier New" pitchFamily="34" charset="-120"/>
              </a:rPr>
              <a:t>sqlserver_data</a:t>
            </a:r>
            <a:endParaRPr lang="en-US" sz="1725" dirty="0"/>
          </a:p>
        </p:txBody>
      </p:sp>
      <p:sp>
        <p:nvSpPr>
          <p:cNvPr id="17" name="Shape 15"/>
          <p:cNvSpPr/>
          <p:nvPr/>
        </p:nvSpPr>
        <p:spPr>
          <a:xfrm>
            <a:off x="5581650" y="5943600"/>
            <a:ext cx="3562350" cy="9525"/>
          </a:xfrm>
          <a:prstGeom prst="rect">
            <a:avLst/>
          </a:prstGeom>
          <a:solidFill>
            <a:srgbClr val="D9D2BF"/>
          </a:solidFill>
          <a:ln/>
        </p:spPr>
      </p:sp>
      <p:sp>
        <p:nvSpPr>
          <p:cNvPr id="18" name="Text 16"/>
          <p:cNvSpPr/>
          <p:nvPr/>
        </p:nvSpPr>
        <p:spPr>
          <a:xfrm>
            <a:off x="5772150" y="4396740"/>
            <a:ext cx="3288221" cy="137541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1B1E25"/>
                </a:solidFill>
                <a:latin typeface="Arial" pitchFamily="34" charset="0"/>
                <a:ea typeface="Arial" pitchFamily="34" charset="-122"/>
                <a:cs typeface="Arial" pitchFamily="34" charset="-120"/>
              </a:rPr>
              <a:t>db </a:t>
            </a:r>
            <a:r>
              <a:rPr lang="en-US" sz="1950" dirty="0">
                <a:solidFill>
                  <a:srgbClr val="6E7280"/>
                </a:solidFill>
                <a:latin typeface="Courier New" pitchFamily="34" charset="0"/>
                <a:ea typeface="Courier New" pitchFamily="34" charset="-122"/>
                <a:cs typeface="Courier New" pitchFamily="34" charset="-120"/>
              </a:rPr>
              <a:t>(SQL Server)</a:t>
            </a:r>
            <a:endParaRPr lang="en-US" sz="1950" dirty="0"/>
          </a:p>
        </p:txBody>
      </p:sp>
      <p:sp>
        <p:nvSpPr>
          <p:cNvPr id="19" name="Shape 17"/>
          <p:cNvSpPr/>
          <p:nvPr/>
        </p:nvSpPr>
        <p:spPr>
          <a:xfrm>
            <a:off x="9144000" y="5943600"/>
            <a:ext cx="4048125" cy="9525"/>
          </a:xfrm>
          <a:prstGeom prst="rect">
            <a:avLst/>
          </a:prstGeom>
          <a:solidFill>
            <a:srgbClr val="D9D2BF"/>
          </a:solidFill>
          <a:ln/>
        </p:spPr>
      </p:sp>
      <p:sp>
        <p:nvSpPr>
          <p:cNvPr id="20" name="Text 18"/>
          <p:cNvSpPr/>
          <p:nvPr/>
        </p:nvSpPr>
        <p:spPr>
          <a:xfrm>
            <a:off x="9334500" y="4396740"/>
            <a:ext cx="3788569" cy="1375410"/>
          </a:xfrm>
          <a:prstGeom prst="rect">
            <a:avLst/>
          </a:prstGeom>
          <a:noFill/>
          <a:ln/>
        </p:spPr>
        <p:txBody>
          <a:bodyPr wrap="square" lIns="25400" tIns="25400" rIns="25400" bIns="25400" rtlCol="0" anchor="t">
            <a:normAutofit/>
          </a:bodyPr>
          <a:lstStyle/>
          <a:p>
            <a:pPr marL="0" indent="0" algn="l">
              <a:lnSpc>
                <a:spcPct val="135000"/>
              </a:lnSpc>
              <a:buNone/>
            </a:pPr>
            <a:r>
              <a:rPr lang="en-US" sz="1725" dirty="0">
                <a:solidFill>
                  <a:srgbClr val="1B1E25"/>
                </a:solidFill>
                <a:latin typeface="Courier New" pitchFamily="34" charset="0"/>
                <a:ea typeface="Courier New" pitchFamily="34" charset="-122"/>
                <a:cs typeface="Courier New" pitchFamily="34" charset="-120"/>
              </a:rPr>
              <a:t>/var/opt/mssql</a:t>
            </a:r>
            <a:endParaRPr lang="en-US" sz="1725" dirty="0"/>
          </a:p>
        </p:txBody>
      </p:sp>
      <p:sp>
        <p:nvSpPr>
          <p:cNvPr id="21" name="Shape 19"/>
          <p:cNvSpPr/>
          <p:nvPr/>
        </p:nvSpPr>
        <p:spPr>
          <a:xfrm>
            <a:off x="13192125" y="5943600"/>
            <a:ext cx="4048125" cy="9525"/>
          </a:xfrm>
          <a:prstGeom prst="rect">
            <a:avLst/>
          </a:prstGeom>
          <a:solidFill>
            <a:srgbClr val="D9D2BF"/>
          </a:solidFill>
          <a:ln/>
        </p:spPr>
      </p:sp>
      <p:sp>
        <p:nvSpPr>
          <p:cNvPr id="22" name="Text 20"/>
          <p:cNvSpPr/>
          <p:nvPr/>
        </p:nvSpPr>
        <p:spPr>
          <a:xfrm>
            <a:off x="13382625" y="4396740"/>
            <a:ext cx="3788569" cy="137541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1B1E25"/>
                </a:solidFill>
                <a:latin typeface="Arial" pitchFamily="34" charset="0"/>
                <a:ea typeface="Arial" pitchFamily="34" charset="-122"/>
                <a:cs typeface="Arial" pitchFamily="34" charset="-120"/>
              </a:rPr>
              <a:t>Toutes les données métier : étudiants, notes, alertes, prédictions, refresh tokens. La perdre = repartir de zéro.</a:t>
            </a:r>
            <a:endParaRPr lang="en-US" sz="1950" dirty="0"/>
          </a:p>
        </p:txBody>
      </p:sp>
      <p:sp>
        <p:nvSpPr>
          <p:cNvPr id="23" name="Shape 21"/>
          <p:cNvSpPr/>
          <p:nvPr/>
        </p:nvSpPr>
        <p:spPr>
          <a:xfrm>
            <a:off x="1047750" y="7722870"/>
            <a:ext cx="4533900" cy="9525"/>
          </a:xfrm>
          <a:prstGeom prst="rect">
            <a:avLst/>
          </a:prstGeom>
          <a:solidFill>
            <a:srgbClr val="D9D2BF"/>
          </a:solidFill>
          <a:ln/>
        </p:spPr>
      </p:sp>
      <p:sp>
        <p:nvSpPr>
          <p:cNvPr id="24" name="Text 22"/>
          <p:cNvSpPr/>
          <p:nvPr/>
        </p:nvSpPr>
        <p:spPr>
          <a:xfrm>
            <a:off x="1238250" y="6160770"/>
            <a:ext cx="4288917" cy="1390650"/>
          </a:xfrm>
          <a:prstGeom prst="rect">
            <a:avLst/>
          </a:prstGeom>
          <a:noFill/>
          <a:ln/>
        </p:spPr>
        <p:txBody>
          <a:bodyPr wrap="square" lIns="25400" tIns="25400" rIns="25400" bIns="25400" rtlCol="0" anchor="t">
            <a:normAutofit/>
          </a:bodyPr>
          <a:lstStyle/>
          <a:p>
            <a:pPr marL="0" indent="0" algn="l">
              <a:lnSpc>
                <a:spcPct val="135000"/>
              </a:lnSpc>
              <a:buNone/>
            </a:pPr>
            <a:r>
              <a:rPr lang="en-US" sz="1725" dirty="0">
                <a:solidFill>
                  <a:srgbClr val="2A5FD9"/>
                </a:solidFill>
                <a:latin typeface="Courier New" pitchFamily="34" charset="0"/>
                <a:ea typeface="Courier New" pitchFamily="34" charset="-122"/>
                <a:cs typeface="Courier New" pitchFamily="34" charset="-120"/>
              </a:rPr>
              <a:t>ml_models_data</a:t>
            </a:r>
            <a:endParaRPr lang="en-US" sz="1725" dirty="0"/>
          </a:p>
        </p:txBody>
      </p:sp>
      <p:sp>
        <p:nvSpPr>
          <p:cNvPr id="25" name="Shape 23"/>
          <p:cNvSpPr/>
          <p:nvPr/>
        </p:nvSpPr>
        <p:spPr>
          <a:xfrm>
            <a:off x="5581650" y="7722870"/>
            <a:ext cx="3562350" cy="9525"/>
          </a:xfrm>
          <a:prstGeom prst="rect">
            <a:avLst/>
          </a:prstGeom>
          <a:solidFill>
            <a:srgbClr val="D9D2BF"/>
          </a:solidFill>
          <a:ln/>
        </p:spPr>
      </p:sp>
      <p:sp>
        <p:nvSpPr>
          <p:cNvPr id="26" name="Text 24"/>
          <p:cNvSpPr/>
          <p:nvPr/>
        </p:nvSpPr>
        <p:spPr>
          <a:xfrm>
            <a:off x="5772150" y="6160770"/>
            <a:ext cx="3288221" cy="139065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1B1E25"/>
                </a:solidFill>
                <a:latin typeface="Arial" pitchFamily="34" charset="0"/>
                <a:ea typeface="Arial" pitchFamily="34" charset="-122"/>
                <a:cs typeface="Arial" pitchFamily="34" charset="-120"/>
              </a:rPr>
              <a:t>ml-service </a:t>
            </a:r>
            <a:r>
              <a:rPr lang="en-US" sz="1950" dirty="0">
                <a:solidFill>
                  <a:srgbClr val="6E7280"/>
                </a:solidFill>
                <a:latin typeface="Courier New" pitchFamily="34" charset="0"/>
                <a:ea typeface="Courier New" pitchFamily="34" charset="-122"/>
                <a:cs typeface="Courier New" pitchFamily="34" charset="-120"/>
              </a:rPr>
              <a:t>(FastAPI)</a:t>
            </a:r>
            <a:endParaRPr lang="en-US" sz="1950" dirty="0"/>
          </a:p>
        </p:txBody>
      </p:sp>
      <p:sp>
        <p:nvSpPr>
          <p:cNvPr id="27" name="Shape 25"/>
          <p:cNvSpPr/>
          <p:nvPr/>
        </p:nvSpPr>
        <p:spPr>
          <a:xfrm>
            <a:off x="9144000" y="7722870"/>
            <a:ext cx="4048125" cy="9525"/>
          </a:xfrm>
          <a:prstGeom prst="rect">
            <a:avLst/>
          </a:prstGeom>
          <a:solidFill>
            <a:srgbClr val="D9D2BF"/>
          </a:solidFill>
          <a:ln/>
        </p:spPr>
      </p:sp>
      <p:sp>
        <p:nvSpPr>
          <p:cNvPr id="28" name="Text 26"/>
          <p:cNvSpPr/>
          <p:nvPr/>
        </p:nvSpPr>
        <p:spPr>
          <a:xfrm>
            <a:off x="9334500" y="6160770"/>
            <a:ext cx="3788569" cy="1390650"/>
          </a:xfrm>
          <a:prstGeom prst="rect">
            <a:avLst/>
          </a:prstGeom>
          <a:noFill/>
          <a:ln/>
        </p:spPr>
        <p:txBody>
          <a:bodyPr wrap="square" lIns="25400" tIns="25400" rIns="25400" bIns="25400" rtlCol="0" anchor="t">
            <a:normAutofit/>
          </a:bodyPr>
          <a:lstStyle/>
          <a:p>
            <a:pPr marL="0" indent="0" algn="l">
              <a:lnSpc>
                <a:spcPct val="135000"/>
              </a:lnSpc>
              <a:buNone/>
            </a:pPr>
            <a:r>
              <a:rPr lang="en-US" sz="1725" dirty="0">
                <a:solidFill>
                  <a:srgbClr val="1B1E25"/>
                </a:solidFill>
                <a:latin typeface="Courier New" pitchFamily="34" charset="0"/>
                <a:ea typeface="Courier New" pitchFamily="34" charset="-122"/>
                <a:cs typeface="Courier New" pitchFamily="34" charset="-120"/>
              </a:rPr>
              <a:t>/app/saved_models</a:t>
            </a:r>
            <a:endParaRPr lang="en-US" sz="1725" dirty="0"/>
          </a:p>
        </p:txBody>
      </p:sp>
      <p:sp>
        <p:nvSpPr>
          <p:cNvPr id="29" name="Shape 27"/>
          <p:cNvSpPr/>
          <p:nvPr/>
        </p:nvSpPr>
        <p:spPr>
          <a:xfrm>
            <a:off x="13192125" y="7722870"/>
            <a:ext cx="4048125" cy="9525"/>
          </a:xfrm>
          <a:prstGeom prst="rect">
            <a:avLst/>
          </a:prstGeom>
          <a:solidFill>
            <a:srgbClr val="D9D2BF"/>
          </a:solidFill>
          <a:ln/>
        </p:spPr>
      </p:sp>
      <p:sp>
        <p:nvSpPr>
          <p:cNvPr id="30" name="Text 28"/>
          <p:cNvSpPr/>
          <p:nvPr/>
        </p:nvSpPr>
        <p:spPr>
          <a:xfrm>
            <a:off x="13382625" y="6160770"/>
            <a:ext cx="3788569" cy="139065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1B1E25"/>
                </a:solidFill>
                <a:latin typeface="Arial" pitchFamily="34" charset="0"/>
                <a:ea typeface="Arial" pitchFamily="34" charset="-122"/>
                <a:cs typeface="Arial" pitchFamily="34" charset="-120"/>
              </a:rPr>
              <a:t>Les modèles ML entraînés ( </a:t>
            </a:r>
            <a:r>
              <a:rPr lang="en-US" sz="1950" dirty="0">
                <a:solidFill>
                  <a:srgbClr val="1B1E25"/>
                </a:solidFill>
                <a:latin typeface="Courier New" pitchFamily="34" charset="0"/>
                <a:ea typeface="Courier New" pitchFamily="34" charset="-122"/>
                <a:cs typeface="Courier New" pitchFamily="34" charset="-120"/>
              </a:rPr>
              <a:t>.joblib </a:t>
            </a:r>
            <a:r>
              <a:rPr lang="en-US" sz="1950" dirty="0">
                <a:solidFill>
                  <a:srgbClr val="1B1E25"/>
                </a:solidFill>
                <a:latin typeface="Arial" pitchFamily="34" charset="0"/>
                <a:ea typeface="Arial" pitchFamily="34" charset="-122"/>
                <a:cs typeface="Arial" pitchFamily="34" charset="-120"/>
              </a:rPr>
              <a:t>). Sans ce volume, ré-entraînement complet à chaque restart.</a:t>
            </a:r>
            <a:endParaRPr lang="en-US" sz="1950" dirty="0"/>
          </a:p>
        </p:txBody>
      </p:sp>
      <p:sp>
        <p:nvSpPr>
          <p:cNvPr id="31" name="Shape 29"/>
          <p:cNvSpPr/>
          <p:nvPr/>
        </p:nvSpPr>
        <p:spPr>
          <a:xfrm>
            <a:off x="1047750" y="8153400"/>
            <a:ext cx="16192500" cy="2019300"/>
          </a:xfrm>
          <a:prstGeom prst="roundRect">
            <a:avLst>
              <a:gd name="adj" fmla="val 8491"/>
            </a:avLst>
          </a:prstGeom>
          <a:solidFill>
            <a:srgbClr val="ECE6D6"/>
          </a:solidFill>
          <a:ln/>
        </p:spPr>
      </p:sp>
      <p:sp>
        <p:nvSpPr>
          <p:cNvPr id="32" name="Text 30"/>
          <p:cNvSpPr/>
          <p:nvPr/>
        </p:nvSpPr>
        <p:spPr>
          <a:xfrm>
            <a:off x="1390650" y="8420100"/>
            <a:ext cx="15971901"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Courier New" pitchFamily="34" charset="0"/>
                <a:ea typeface="Courier New" pitchFamily="34" charset="-122"/>
                <a:cs typeface="Courier New" pitchFamily="34" charset="-120"/>
              </a:rPr>
              <a:t>extrait — docker-compose.yml</a:t>
            </a:r>
            <a:endParaRPr lang="en-US" sz="1950" dirty="0"/>
          </a:p>
        </p:txBody>
      </p:sp>
      <p:sp>
        <p:nvSpPr>
          <p:cNvPr id="33" name="Text 31"/>
          <p:cNvSpPr/>
          <p:nvPr/>
        </p:nvSpPr>
        <p:spPr>
          <a:xfrm>
            <a:off x="1390650" y="8868728"/>
            <a:ext cx="15971901" cy="1075373"/>
          </a:xfrm>
          <a:prstGeom prst="rect">
            <a:avLst/>
          </a:prstGeom>
          <a:noFill/>
          <a:ln/>
        </p:spPr>
        <p:txBody>
          <a:bodyPr wrap="square" lIns="25400" tIns="25400" rIns="25400" bIns="25400" rtlCol="0" anchor="t">
            <a:normAutofit/>
          </a:bodyPr>
          <a:lstStyle/>
          <a:p>
            <a:pPr marL="0" indent="0" algn="l">
              <a:lnSpc>
                <a:spcPct val="165000"/>
              </a:lnSpc>
              <a:buNone/>
            </a:pPr>
            <a:r>
              <a:rPr lang="en-US" sz="1650" dirty="0">
                <a:solidFill>
                  <a:srgbClr val="1B1E25"/>
                </a:solidFill>
                <a:latin typeface="Courier New" pitchFamily="34" charset="0"/>
                <a:ea typeface="Courier New" pitchFamily="34" charset="-122"/>
                <a:cs typeface="Courier New" pitchFamily="34" charset="-120"/>
              </a:rPr>
              <a:t>volumes:</a:t>
            </a:r>
            <a:endParaRPr lang="en-US" sz="1650" dirty="0"/>
          </a:p>
          <a:p>
            <a:pPr marL="0" indent="0" algn="l">
              <a:lnSpc>
                <a:spcPct val="165000"/>
              </a:lnSpc>
              <a:buNone/>
            </a:pPr>
            <a:r>
              <a:rPr lang="en-US" sz="1650" dirty="0">
                <a:solidFill>
                  <a:srgbClr val="1B1E25"/>
                </a:solidFill>
                <a:latin typeface="Courier New" pitchFamily="34" charset="0"/>
                <a:ea typeface="Courier New" pitchFamily="34" charset="-122"/>
                <a:cs typeface="Courier New" pitchFamily="34" charset="-120"/>
              </a:rPr>
              <a:t>  sqlserver_data:</a:t>
            </a:r>
            <a:endParaRPr lang="en-US" sz="1650" dirty="0"/>
          </a:p>
          <a:p>
            <a:pPr marL="0" indent="0" algn="l">
              <a:lnSpc>
                <a:spcPct val="165000"/>
              </a:lnSpc>
              <a:buNone/>
            </a:pPr>
            <a:r>
              <a:rPr lang="en-US" sz="1650" dirty="0">
                <a:solidFill>
                  <a:srgbClr val="1B1E25"/>
                </a:solidFill>
                <a:latin typeface="Courier New" pitchFamily="34" charset="0"/>
                <a:ea typeface="Courier New" pitchFamily="34" charset="-122"/>
                <a:cs typeface="Courier New" pitchFamily="34" charset="-120"/>
              </a:rPr>
              <a:t>  ml_models_data:   </a:t>
            </a:r>
            <a:endParaRPr lang="en-US" sz="1650" dirty="0"/>
          </a:p>
          <a:p>
            <a:pPr marL="0" indent="0" algn="l">
              <a:lnSpc>
                <a:spcPct val="165000"/>
              </a:lnSpc>
              <a:buNone/>
            </a:pPr>
            <a:r>
              <a:rPr lang="en-US" sz="1650" dirty="0">
                <a:solidFill>
                  <a:srgbClr val="6E7280"/>
                </a:solidFill>
                <a:latin typeface="Courier New" pitchFamily="34" charset="0"/>
                <a:ea typeface="Courier New" pitchFamily="34" charset="-122"/>
                <a:cs typeface="Courier New" pitchFamily="34" charset="-120"/>
              </a:rPr>
              <a:t># persiste les fichiers .joblib entre les restarts</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217"/>
        </a:solidFill>
        <a:effectLst/>
      </p:bgPr>
    </p:bg>
    <p:spTree>
      <p:nvGrpSpPr>
        <p:cNvPr id="1" name=""/>
        <p:cNvGrpSpPr/>
        <p:nvPr/>
      </p:nvGrpSpPr>
      <p:grpSpPr>
        <a:xfrm>
          <a:off x="0" y="0"/>
          <a:ext cx="0" cy="0"/>
          <a:chOff x="0" y="0"/>
          <a:chExt cx="0" cy="0"/>
        </a:xfrm>
      </p:grpSpPr>
      <p:sp>
        <p:nvSpPr>
          <p:cNvPr id="2" name="Text 0"/>
          <p:cNvSpPr/>
          <p:nvPr/>
        </p:nvSpPr>
        <p:spPr>
          <a:xfrm>
            <a:off x="1047750" y="419100"/>
            <a:ext cx="139315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9AA0AB"/>
                </a:solidFill>
                <a:latin typeface="Courier New" pitchFamily="34" charset="0"/>
                <a:ea typeface="Courier New" pitchFamily="34" charset="-122"/>
                <a:cs typeface="Courier New" pitchFamily="34" charset="-120"/>
              </a:rPr>
              <a:t>15 — ÉTAPE 4</a:t>
            </a:r>
            <a:endParaRPr lang="en-US" sz="1350" dirty="0"/>
          </a:p>
        </p:txBody>
      </p:sp>
      <p:sp>
        <p:nvSpPr>
          <p:cNvPr id="3" name="Shape 1"/>
          <p:cNvSpPr/>
          <p:nvPr/>
        </p:nvSpPr>
        <p:spPr>
          <a:xfrm>
            <a:off x="16224290" y="496729"/>
            <a:ext cx="76200" cy="76200"/>
          </a:xfrm>
          <a:prstGeom prst="ellipse">
            <a:avLst/>
          </a:prstGeom>
          <a:solidFill>
            <a:srgbClr val="F1EDE2"/>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9AA0AB"/>
                </a:solidFill>
                <a:latin typeface="Courier New" pitchFamily="34" charset="0"/>
                <a:ea typeface="Courier New" pitchFamily="34" charset="-122"/>
                <a:cs typeface="Courier New" pitchFamily="34" charset="-120"/>
              </a:rPr>
              <a:t>15 / 18</a:t>
            </a:r>
            <a:endParaRPr lang="en-US" sz="1350" dirty="0"/>
          </a:p>
        </p:txBody>
      </p:sp>
      <p:sp>
        <p:nvSpPr>
          <p:cNvPr id="5" name="Text 3"/>
          <p:cNvSpPr/>
          <p:nvPr/>
        </p:nvSpPr>
        <p:spPr>
          <a:xfrm>
            <a:off x="1047750" y="3392805"/>
            <a:ext cx="3077142" cy="449580"/>
          </a:xfrm>
          <a:prstGeom prst="rect">
            <a:avLst/>
          </a:prstGeom>
          <a:noFill/>
          <a:ln/>
        </p:spPr>
        <p:txBody>
          <a:bodyPr wrap="square" lIns="25400" tIns="25400" rIns="25400" bIns="25400" rtlCol="0" anchor="t">
            <a:normAutofit/>
          </a:bodyPr>
          <a:lstStyle/>
          <a:p>
            <a:pPr marL="0" indent="0" algn="l">
              <a:lnSpc>
                <a:spcPct val="135000"/>
              </a:lnSpc>
              <a:buNone/>
            </a:pPr>
            <a:r>
              <a:rPr lang="en-US" sz="2400" kern="0" spc="240" dirty="0">
                <a:solidFill>
                  <a:srgbClr val="2A5FD9"/>
                </a:solidFill>
                <a:latin typeface="Courier New" pitchFamily="34" charset="0"/>
                <a:ea typeface="Courier New" pitchFamily="34" charset="-122"/>
                <a:cs typeface="Courier New" pitchFamily="34" charset="-120"/>
              </a:rPr>
              <a:t>04 — ISOLATION</a:t>
            </a:r>
            <a:endParaRPr lang="en-US" sz="2400" dirty="0"/>
          </a:p>
        </p:txBody>
      </p:sp>
      <p:sp>
        <p:nvSpPr>
          <p:cNvPr id="6" name="Text 4"/>
          <p:cNvSpPr/>
          <p:nvPr/>
        </p:nvSpPr>
        <p:spPr>
          <a:xfrm>
            <a:off x="1047750" y="4185285"/>
            <a:ext cx="5361820" cy="1203960"/>
          </a:xfrm>
          <a:prstGeom prst="rect">
            <a:avLst/>
          </a:prstGeom>
          <a:noFill/>
          <a:ln/>
        </p:spPr>
        <p:txBody>
          <a:bodyPr wrap="square" lIns="25400" tIns="25400" rIns="25400" bIns="25400" rtlCol="0" anchor="t">
            <a:normAutofit/>
          </a:bodyPr>
          <a:lstStyle/>
          <a:p>
            <a:pPr marL="0" indent="0" algn="l">
              <a:lnSpc>
                <a:spcPct val="102000"/>
              </a:lnSpc>
              <a:buNone/>
            </a:pPr>
            <a:r>
              <a:rPr lang="en-US" sz="9000" b="1" kern="0" spc="-225" dirty="0">
                <a:solidFill>
                  <a:srgbClr val="F1EDE2"/>
                </a:solidFill>
                <a:latin typeface="Arial" pitchFamily="34" charset="0"/>
                <a:ea typeface="Arial" pitchFamily="34" charset="-122"/>
                <a:cs typeface="Arial" pitchFamily="34" charset="-120"/>
              </a:rPr>
              <a:t>Networks.</a:t>
            </a:r>
            <a:endParaRPr lang="en-US" sz="9000" dirty="0"/>
          </a:p>
        </p:txBody>
      </p:sp>
      <p:sp>
        <p:nvSpPr>
          <p:cNvPr id="7" name="Text 5"/>
          <p:cNvSpPr/>
          <p:nvPr/>
        </p:nvSpPr>
        <p:spPr>
          <a:xfrm>
            <a:off x="1047750" y="5960745"/>
            <a:ext cx="11724337" cy="1028700"/>
          </a:xfrm>
          <a:prstGeom prst="rect">
            <a:avLst/>
          </a:prstGeom>
          <a:noFill/>
          <a:ln/>
        </p:spPr>
        <p:txBody>
          <a:bodyPr wrap="square" lIns="25400" tIns="25400" rIns="25400" bIns="25400" rtlCol="0" anchor="t">
            <a:normAutofit/>
          </a:bodyPr>
          <a:lstStyle/>
          <a:p>
            <a:pPr marL="0" indent="0" algn="l">
              <a:lnSpc>
                <a:spcPct val="130000"/>
              </a:lnSpc>
              <a:buNone/>
            </a:pPr>
            <a:r>
              <a:rPr lang="en-US" sz="3000" dirty="0">
                <a:solidFill>
                  <a:srgbClr val="9AA0AB"/>
                </a:solidFill>
                <a:latin typeface="Arial" pitchFamily="34" charset="0"/>
                <a:ea typeface="Arial" pitchFamily="34" charset="-122"/>
                <a:cs typeface="Arial" pitchFamily="34" charset="-120"/>
              </a:rPr>
              <a:t>Par défaut, tous les conteneurs peuvent se parler. C'est dangereux. On crée trois réseaux pour décider qui parle à qui.</a:t>
            </a:r>
            <a:endParaRPr lang="en-US" sz="3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1047750" y="419100"/>
            <a:ext cx="2490668"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15 · NETWORKS / PROJET</a:t>
            </a:r>
            <a:endParaRPr lang="en-US" sz="1350" dirty="0"/>
          </a:p>
        </p:txBody>
      </p:sp>
      <p:sp>
        <p:nvSpPr>
          <p:cNvPr id="3" name="Shape 1"/>
          <p:cNvSpPr/>
          <p:nvPr/>
        </p:nvSpPr>
        <p:spPr>
          <a:xfrm>
            <a:off x="16224290" y="496729"/>
            <a:ext cx="76200" cy="76200"/>
          </a:xfrm>
          <a:prstGeom prst="ellipse">
            <a:avLst/>
          </a:prstGeom>
          <a:solidFill>
            <a:srgbClr val="2A5FD9"/>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16 / 18</a:t>
            </a:r>
            <a:endParaRPr lang="en-US" sz="1350" dirty="0"/>
          </a:p>
        </p:txBody>
      </p:sp>
      <p:sp>
        <p:nvSpPr>
          <p:cNvPr id="5" name="Text 3"/>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TROIS RÉSEAUX, TROIS NIVEAUX D'EXPOSITION</a:t>
            </a:r>
            <a:endParaRPr lang="en-US" sz="1650" dirty="0"/>
          </a:p>
        </p:txBody>
      </p:sp>
      <p:sp>
        <p:nvSpPr>
          <p:cNvPr id="6" name="Text 4"/>
          <p:cNvSpPr/>
          <p:nvPr/>
        </p:nvSpPr>
        <p:spPr>
          <a:xfrm>
            <a:off x="1047750" y="1368742"/>
            <a:ext cx="16678275" cy="147828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1B1E25"/>
                </a:solidFill>
                <a:latin typeface="Arial" pitchFamily="34" charset="0"/>
                <a:ea typeface="Arial" pitchFamily="34" charset="-122"/>
                <a:cs typeface="Arial" pitchFamily="34" charset="-120"/>
              </a:rPr>
              <a:t>La base et le ML sont injoignables depuis Internet — par construction.</a:t>
            </a:r>
            <a:endParaRPr lang="en-US" sz="5400" dirty="0"/>
          </a:p>
        </p:txBody>
      </p:sp>
      <p:sp>
        <p:nvSpPr>
          <p:cNvPr id="7" name="Shape 5"/>
          <p:cNvSpPr/>
          <p:nvPr/>
        </p:nvSpPr>
        <p:spPr>
          <a:xfrm>
            <a:off x="1047750" y="3342322"/>
            <a:ext cx="5219700" cy="5448300"/>
          </a:xfrm>
          <a:prstGeom prst="roundRect">
            <a:avLst>
              <a:gd name="adj" fmla="val 3285"/>
            </a:avLst>
          </a:prstGeom>
          <a:solidFill>
            <a:srgbClr val="ECE6D6"/>
          </a:solidFill>
          <a:ln/>
        </p:spPr>
      </p:sp>
      <p:sp>
        <p:nvSpPr>
          <p:cNvPr id="8" name="Text 6"/>
          <p:cNvSpPr/>
          <p:nvPr/>
        </p:nvSpPr>
        <p:spPr>
          <a:xfrm>
            <a:off x="1466850" y="3723322"/>
            <a:ext cx="4512945" cy="295275"/>
          </a:xfrm>
          <a:prstGeom prst="rect">
            <a:avLst/>
          </a:prstGeom>
          <a:noFill/>
          <a:ln/>
        </p:spPr>
        <p:txBody>
          <a:bodyPr wrap="square" lIns="25400" tIns="25400" rIns="25400" bIns="25400" rtlCol="0" anchor="t">
            <a:normAutofit/>
          </a:bodyPr>
          <a:lstStyle/>
          <a:p>
            <a:pPr marL="0" indent="0" algn="l">
              <a:lnSpc>
                <a:spcPct val="135000"/>
              </a:lnSpc>
              <a:buNone/>
            </a:pPr>
            <a:r>
              <a:rPr lang="en-US" sz="1500" kern="0" spc="120" dirty="0">
                <a:solidFill>
                  <a:srgbClr val="2A5FD9"/>
                </a:solidFill>
                <a:latin typeface="Courier New" pitchFamily="34" charset="0"/>
                <a:ea typeface="Courier New" pitchFamily="34" charset="-122"/>
                <a:cs typeface="Courier New" pitchFamily="34" charset="-120"/>
              </a:rPr>
              <a:t>PFA_PUBLIC</a:t>
            </a:r>
            <a:endParaRPr lang="en-US" sz="1500" dirty="0"/>
          </a:p>
        </p:txBody>
      </p:sp>
      <p:sp>
        <p:nvSpPr>
          <p:cNvPr id="9" name="Text 7"/>
          <p:cNvSpPr/>
          <p:nvPr/>
        </p:nvSpPr>
        <p:spPr>
          <a:xfrm>
            <a:off x="1466850" y="4113847"/>
            <a:ext cx="4512945" cy="449580"/>
          </a:xfrm>
          <a:prstGeom prst="rect">
            <a:avLst/>
          </a:prstGeom>
          <a:noFill/>
          <a:ln/>
        </p:spPr>
        <p:txBody>
          <a:bodyPr wrap="square" lIns="25400" tIns="25400" rIns="25400" bIns="25400" rtlCol="0" anchor="t">
            <a:normAutofit/>
          </a:bodyPr>
          <a:lstStyle/>
          <a:p>
            <a:pPr marL="0" indent="0" algn="l">
              <a:lnSpc>
                <a:spcPct val="135000"/>
              </a:lnSpc>
              <a:buNone/>
            </a:pPr>
            <a:r>
              <a:rPr lang="en-US" sz="2400" b="1" kern="0" spc="-36" dirty="0">
                <a:solidFill>
                  <a:srgbClr val="1B1E25"/>
                </a:solidFill>
                <a:latin typeface="Arial" pitchFamily="34" charset="0"/>
                <a:ea typeface="Arial" pitchFamily="34" charset="-122"/>
                <a:cs typeface="Arial" pitchFamily="34" charset="-120"/>
              </a:rPr>
              <a:t>Réseau exposé</a:t>
            </a:r>
            <a:endParaRPr lang="en-US" sz="2400" dirty="0"/>
          </a:p>
        </p:txBody>
      </p:sp>
      <p:sp>
        <p:nvSpPr>
          <p:cNvPr id="10" name="Text 8"/>
          <p:cNvSpPr/>
          <p:nvPr/>
        </p:nvSpPr>
        <p:spPr>
          <a:xfrm>
            <a:off x="1466850" y="4658678"/>
            <a:ext cx="4512945" cy="706755"/>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3A3E48"/>
                </a:solidFill>
                <a:latin typeface="Arial" pitchFamily="34" charset="0"/>
                <a:ea typeface="Arial" pitchFamily="34" charset="-122"/>
                <a:cs typeface="Arial" pitchFamily="34" charset="-120"/>
              </a:rPr>
              <a:t>Le seul réseau accessible depuis Internet, via Nginx.</a:t>
            </a:r>
            <a:endParaRPr lang="en-US" sz="1950" dirty="0"/>
          </a:p>
        </p:txBody>
      </p:sp>
      <p:sp>
        <p:nvSpPr>
          <p:cNvPr id="11" name="Shape 9"/>
          <p:cNvSpPr/>
          <p:nvPr/>
        </p:nvSpPr>
        <p:spPr>
          <a:xfrm>
            <a:off x="1466850" y="7363778"/>
            <a:ext cx="4381500" cy="9525"/>
          </a:xfrm>
          <a:prstGeom prst="rect">
            <a:avLst/>
          </a:prstGeom>
          <a:solidFill>
            <a:srgbClr val="D9D2BF"/>
          </a:solidFill>
          <a:ln/>
        </p:spPr>
      </p:sp>
      <p:sp>
        <p:nvSpPr>
          <p:cNvPr id="12" name="Text 10"/>
          <p:cNvSpPr/>
          <p:nvPr/>
        </p:nvSpPr>
        <p:spPr>
          <a:xfrm>
            <a:off x="1466850" y="7561898"/>
            <a:ext cx="4512945"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Courier New" pitchFamily="34" charset="0"/>
                <a:ea typeface="Courier New" pitchFamily="34" charset="-122"/>
                <a:cs typeface="Courier New" pitchFamily="34" charset="-120"/>
              </a:rPr>
              <a:t>Membres</a:t>
            </a:r>
            <a:endParaRPr lang="en-US" sz="1950" dirty="0"/>
          </a:p>
        </p:txBody>
      </p:sp>
      <p:sp>
        <p:nvSpPr>
          <p:cNvPr id="13" name="Shape 11"/>
          <p:cNvSpPr/>
          <p:nvPr/>
        </p:nvSpPr>
        <p:spPr>
          <a:xfrm>
            <a:off x="1466850" y="8010525"/>
            <a:ext cx="796409" cy="399098"/>
          </a:xfrm>
          <a:prstGeom prst="roundRect">
            <a:avLst>
              <a:gd name="adj" fmla="val 50000"/>
            </a:avLst>
          </a:prstGeom>
          <a:solidFill>
            <a:srgbClr val="F6F2E9"/>
          </a:solidFill>
          <a:ln w="7620">
            <a:solidFill>
              <a:srgbClr val="D9D2BF"/>
            </a:solidFill>
            <a:prstDash val="solid"/>
          </a:ln>
        </p:spPr>
      </p:sp>
      <p:sp>
        <p:nvSpPr>
          <p:cNvPr id="14" name="Text 12"/>
          <p:cNvSpPr/>
          <p:nvPr/>
        </p:nvSpPr>
        <p:spPr>
          <a:xfrm>
            <a:off x="1607820" y="8094345"/>
            <a:ext cx="590669" cy="269558"/>
          </a:xfrm>
          <a:prstGeom prst="rect">
            <a:avLst/>
          </a:prstGeom>
          <a:noFill/>
          <a:ln/>
        </p:spPr>
        <p:txBody>
          <a:bodyPr wrap="square" lIns="25400" tIns="25400" rIns="25400" bIns="25400" rtlCol="0" anchor="ctr">
            <a:normAutofit/>
          </a:bodyPr>
          <a:lstStyle/>
          <a:p>
            <a:pPr marL="0" indent="0" algn="l">
              <a:lnSpc>
                <a:spcPct val="135000"/>
              </a:lnSpc>
              <a:buNone/>
            </a:pPr>
            <a:r>
              <a:rPr lang="en-US" sz="1350" dirty="0">
                <a:solidFill>
                  <a:srgbClr val="3A3E48"/>
                </a:solidFill>
                <a:latin typeface="Courier New" pitchFamily="34" charset="0"/>
                <a:ea typeface="Courier New" pitchFamily="34" charset="-122"/>
                <a:cs typeface="Courier New" pitchFamily="34" charset="-120"/>
              </a:rPr>
              <a:t>nginx</a:t>
            </a:r>
            <a:endParaRPr lang="en-US" sz="1350" dirty="0"/>
          </a:p>
        </p:txBody>
      </p:sp>
      <p:sp>
        <p:nvSpPr>
          <p:cNvPr id="15" name="Shape 13"/>
          <p:cNvSpPr/>
          <p:nvPr/>
        </p:nvSpPr>
        <p:spPr>
          <a:xfrm>
            <a:off x="2339459" y="8010525"/>
            <a:ext cx="1105138" cy="399098"/>
          </a:xfrm>
          <a:prstGeom prst="roundRect">
            <a:avLst>
              <a:gd name="adj" fmla="val 50000"/>
            </a:avLst>
          </a:prstGeom>
          <a:solidFill>
            <a:srgbClr val="F6F2E9"/>
          </a:solidFill>
          <a:ln w="7620">
            <a:solidFill>
              <a:srgbClr val="D9D2BF"/>
            </a:solidFill>
            <a:prstDash val="solid"/>
          </a:ln>
        </p:spPr>
      </p:sp>
      <p:sp>
        <p:nvSpPr>
          <p:cNvPr id="16" name="Text 14"/>
          <p:cNvSpPr/>
          <p:nvPr/>
        </p:nvSpPr>
        <p:spPr>
          <a:xfrm>
            <a:off x="2480429" y="8094345"/>
            <a:ext cx="899398" cy="269558"/>
          </a:xfrm>
          <a:prstGeom prst="rect">
            <a:avLst/>
          </a:prstGeom>
          <a:noFill/>
          <a:ln/>
        </p:spPr>
        <p:txBody>
          <a:bodyPr wrap="square" lIns="25400" tIns="25400" rIns="25400" bIns="25400" rtlCol="0" anchor="ctr">
            <a:normAutofit/>
          </a:bodyPr>
          <a:lstStyle/>
          <a:p>
            <a:pPr marL="0" indent="0" algn="l">
              <a:lnSpc>
                <a:spcPct val="135000"/>
              </a:lnSpc>
              <a:buNone/>
            </a:pPr>
            <a:r>
              <a:rPr lang="en-US" sz="1350" dirty="0">
                <a:solidFill>
                  <a:srgbClr val="3A3E48"/>
                </a:solidFill>
                <a:latin typeface="Courier New" pitchFamily="34" charset="0"/>
                <a:ea typeface="Courier New" pitchFamily="34" charset="-122"/>
                <a:cs typeface="Courier New" pitchFamily="34" charset="-120"/>
              </a:rPr>
              <a:t>frontend</a:t>
            </a:r>
            <a:endParaRPr lang="en-US" sz="1350" dirty="0"/>
          </a:p>
        </p:txBody>
      </p:sp>
      <p:sp>
        <p:nvSpPr>
          <p:cNvPr id="17" name="Shape 15"/>
          <p:cNvSpPr/>
          <p:nvPr/>
        </p:nvSpPr>
        <p:spPr>
          <a:xfrm>
            <a:off x="3520797" y="8010525"/>
            <a:ext cx="1002149" cy="399098"/>
          </a:xfrm>
          <a:prstGeom prst="roundRect">
            <a:avLst>
              <a:gd name="adj" fmla="val 50000"/>
            </a:avLst>
          </a:prstGeom>
          <a:solidFill>
            <a:srgbClr val="F6F2E9"/>
          </a:solidFill>
          <a:ln w="7620">
            <a:solidFill>
              <a:srgbClr val="D9D2BF"/>
            </a:solidFill>
            <a:prstDash val="solid"/>
          </a:ln>
        </p:spPr>
      </p:sp>
      <p:sp>
        <p:nvSpPr>
          <p:cNvPr id="18" name="Text 16"/>
          <p:cNvSpPr/>
          <p:nvPr/>
        </p:nvSpPr>
        <p:spPr>
          <a:xfrm>
            <a:off x="3661767" y="8094345"/>
            <a:ext cx="796409" cy="269558"/>
          </a:xfrm>
          <a:prstGeom prst="rect">
            <a:avLst/>
          </a:prstGeom>
          <a:noFill/>
          <a:ln/>
        </p:spPr>
        <p:txBody>
          <a:bodyPr wrap="square" lIns="25400" tIns="25400" rIns="25400" bIns="25400" rtlCol="0" anchor="ctr">
            <a:normAutofit/>
          </a:bodyPr>
          <a:lstStyle/>
          <a:p>
            <a:pPr marL="0" indent="0" algn="l">
              <a:lnSpc>
                <a:spcPct val="135000"/>
              </a:lnSpc>
              <a:buNone/>
            </a:pPr>
            <a:r>
              <a:rPr lang="en-US" sz="1350" dirty="0">
                <a:solidFill>
                  <a:srgbClr val="3A3E48"/>
                </a:solidFill>
                <a:latin typeface="Courier New" pitchFamily="34" charset="0"/>
                <a:ea typeface="Courier New" pitchFamily="34" charset="-122"/>
                <a:cs typeface="Courier New" pitchFamily="34" charset="-120"/>
              </a:rPr>
              <a:t>backend</a:t>
            </a:r>
            <a:endParaRPr lang="en-US" sz="1350" dirty="0"/>
          </a:p>
        </p:txBody>
      </p:sp>
      <p:sp>
        <p:nvSpPr>
          <p:cNvPr id="19" name="Shape 17"/>
          <p:cNvSpPr/>
          <p:nvPr/>
        </p:nvSpPr>
        <p:spPr>
          <a:xfrm>
            <a:off x="6534150" y="3342322"/>
            <a:ext cx="5219700" cy="5448300"/>
          </a:xfrm>
          <a:prstGeom prst="roundRect">
            <a:avLst>
              <a:gd name="adj" fmla="val 3285"/>
            </a:avLst>
          </a:prstGeom>
          <a:solidFill>
            <a:srgbClr val="ECE6D6"/>
          </a:solidFill>
          <a:ln/>
        </p:spPr>
      </p:sp>
      <p:sp>
        <p:nvSpPr>
          <p:cNvPr id="20" name="Text 18"/>
          <p:cNvSpPr/>
          <p:nvPr/>
        </p:nvSpPr>
        <p:spPr>
          <a:xfrm>
            <a:off x="6953250" y="3723322"/>
            <a:ext cx="4512945" cy="295275"/>
          </a:xfrm>
          <a:prstGeom prst="rect">
            <a:avLst/>
          </a:prstGeom>
          <a:noFill/>
          <a:ln/>
        </p:spPr>
        <p:txBody>
          <a:bodyPr wrap="square" lIns="25400" tIns="25400" rIns="25400" bIns="25400" rtlCol="0" anchor="t">
            <a:normAutofit/>
          </a:bodyPr>
          <a:lstStyle/>
          <a:p>
            <a:pPr marL="0" indent="0" algn="l">
              <a:lnSpc>
                <a:spcPct val="135000"/>
              </a:lnSpc>
              <a:buNone/>
            </a:pPr>
            <a:r>
              <a:rPr lang="en-US" sz="1500" kern="0" spc="120" dirty="0">
                <a:solidFill>
                  <a:srgbClr val="2A5FD9"/>
                </a:solidFill>
                <a:latin typeface="Courier New" pitchFamily="34" charset="0"/>
                <a:ea typeface="Courier New" pitchFamily="34" charset="-122"/>
                <a:cs typeface="Courier New" pitchFamily="34" charset="-120"/>
              </a:rPr>
              <a:t>PFA_INTERNAL_DB</a:t>
            </a:r>
            <a:endParaRPr lang="en-US" sz="1500" dirty="0"/>
          </a:p>
        </p:txBody>
      </p:sp>
      <p:sp>
        <p:nvSpPr>
          <p:cNvPr id="21" name="Text 19"/>
          <p:cNvSpPr/>
          <p:nvPr/>
        </p:nvSpPr>
        <p:spPr>
          <a:xfrm>
            <a:off x="6953250" y="4113847"/>
            <a:ext cx="4512945" cy="449580"/>
          </a:xfrm>
          <a:prstGeom prst="rect">
            <a:avLst/>
          </a:prstGeom>
          <a:noFill/>
          <a:ln/>
        </p:spPr>
        <p:txBody>
          <a:bodyPr wrap="square" lIns="25400" tIns="25400" rIns="25400" bIns="25400" rtlCol="0" anchor="t">
            <a:normAutofit/>
          </a:bodyPr>
          <a:lstStyle/>
          <a:p>
            <a:pPr marL="0" indent="0" algn="l">
              <a:lnSpc>
                <a:spcPct val="135000"/>
              </a:lnSpc>
              <a:buNone/>
            </a:pPr>
            <a:r>
              <a:rPr lang="en-US" sz="2400" b="1" kern="0" spc="-36" dirty="0">
                <a:solidFill>
                  <a:srgbClr val="1B1E25"/>
                </a:solidFill>
                <a:latin typeface="Arial" pitchFamily="34" charset="0"/>
                <a:ea typeface="Arial" pitchFamily="34" charset="-122"/>
                <a:cs typeface="Arial" pitchFamily="34" charset="-120"/>
              </a:rPr>
              <a:t>Plan base de données</a:t>
            </a:r>
            <a:endParaRPr lang="en-US" sz="2400" dirty="0"/>
          </a:p>
        </p:txBody>
      </p:sp>
      <p:sp>
        <p:nvSpPr>
          <p:cNvPr id="22" name="Text 20"/>
          <p:cNvSpPr/>
          <p:nvPr/>
        </p:nvSpPr>
        <p:spPr>
          <a:xfrm>
            <a:off x="6953250" y="4658678"/>
            <a:ext cx="4512945" cy="721995"/>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internal: true </a:t>
            </a:r>
            <a:r>
              <a:rPr lang="en-US" sz="1950" dirty="0">
                <a:solidFill>
                  <a:srgbClr val="3A3E48"/>
                </a:solidFill>
                <a:latin typeface="Arial" pitchFamily="34" charset="0"/>
                <a:ea typeface="Arial" pitchFamily="34" charset="-122"/>
                <a:cs typeface="Arial" pitchFamily="34" charset="-120"/>
              </a:rPr>
              <a:t>— pas d'accès externe, pas de bridge vers Internet.</a:t>
            </a:r>
            <a:endParaRPr lang="en-US" sz="1950" dirty="0"/>
          </a:p>
        </p:txBody>
      </p:sp>
      <p:sp>
        <p:nvSpPr>
          <p:cNvPr id="23" name="Shape 21"/>
          <p:cNvSpPr/>
          <p:nvPr/>
        </p:nvSpPr>
        <p:spPr>
          <a:xfrm>
            <a:off x="6953250" y="7363778"/>
            <a:ext cx="4381500" cy="9525"/>
          </a:xfrm>
          <a:prstGeom prst="rect">
            <a:avLst/>
          </a:prstGeom>
          <a:solidFill>
            <a:srgbClr val="D9D2BF"/>
          </a:solidFill>
          <a:ln/>
        </p:spPr>
      </p:sp>
      <p:sp>
        <p:nvSpPr>
          <p:cNvPr id="24" name="Text 22"/>
          <p:cNvSpPr/>
          <p:nvPr/>
        </p:nvSpPr>
        <p:spPr>
          <a:xfrm>
            <a:off x="6953250" y="7561898"/>
            <a:ext cx="4512945"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Courier New" pitchFamily="34" charset="0"/>
                <a:ea typeface="Courier New" pitchFamily="34" charset="-122"/>
                <a:cs typeface="Courier New" pitchFamily="34" charset="-120"/>
              </a:rPr>
              <a:t>Membres</a:t>
            </a:r>
            <a:endParaRPr lang="en-US" sz="1950" dirty="0"/>
          </a:p>
        </p:txBody>
      </p:sp>
      <p:sp>
        <p:nvSpPr>
          <p:cNvPr id="25" name="Shape 23"/>
          <p:cNvSpPr/>
          <p:nvPr/>
        </p:nvSpPr>
        <p:spPr>
          <a:xfrm>
            <a:off x="6953250" y="8010525"/>
            <a:ext cx="1002149" cy="399098"/>
          </a:xfrm>
          <a:prstGeom prst="roundRect">
            <a:avLst>
              <a:gd name="adj" fmla="val 50000"/>
            </a:avLst>
          </a:prstGeom>
          <a:solidFill>
            <a:srgbClr val="F6F2E9"/>
          </a:solidFill>
          <a:ln w="7620">
            <a:solidFill>
              <a:srgbClr val="D9D2BF"/>
            </a:solidFill>
            <a:prstDash val="solid"/>
          </a:ln>
        </p:spPr>
      </p:sp>
      <p:sp>
        <p:nvSpPr>
          <p:cNvPr id="26" name="Text 24"/>
          <p:cNvSpPr/>
          <p:nvPr/>
        </p:nvSpPr>
        <p:spPr>
          <a:xfrm>
            <a:off x="7094220" y="8094345"/>
            <a:ext cx="796409" cy="269558"/>
          </a:xfrm>
          <a:prstGeom prst="rect">
            <a:avLst/>
          </a:prstGeom>
          <a:noFill/>
          <a:ln/>
        </p:spPr>
        <p:txBody>
          <a:bodyPr wrap="square" lIns="25400" tIns="25400" rIns="25400" bIns="25400" rtlCol="0" anchor="ctr">
            <a:normAutofit/>
          </a:bodyPr>
          <a:lstStyle/>
          <a:p>
            <a:pPr marL="0" indent="0" algn="l">
              <a:lnSpc>
                <a:spcPct val="135000"/>
              </a:lnSpc>
              <a:buNone/>
            </a:pPr>
            <a:r>
              <a:rPr lang="en-US" sz="1350" dirty="0">
                <a:solidFill>
                  <a:srgbClr val="3A3E48"/>
                </a:solidFill>
                <a:latin typeface="Courier New" pitchFamily="34" charset="0"/>
                <a:ea typeface="Courier New" pitchFamily="34" charset="-122"/>
                <a:cs typeface="Courier New" pitchFamily="34" charset="-120"/>
              </a:rPr>
              <a:t>backend</a:t>
            </a:r>
            <a:endParaRPr lang="en-US" sz="1350" dirty="0"/>
          </a:p>
        </p:txBody>
      </p:sp>
      <p:sp>
        <p:nvSpPr>
          <p:cNvPr id="27" name="Shape 25"/>
          <p:cNvSpPr/>
          <p:nvPr/>
        </p:nvSpPr>
        <p:spPr>
          <a:xfrm>
            <a:off x="8031599" y="8010525"/>
            <a:ext cx="487799" cy="399098"/>
          </a:xfrm>
          <a:prstGeom prst="ellipse">
            <a:avLst/>
          </a:prstGeom>
          <a:solidFill>
            <a:srgbClr val="F6F2E9"/>
          </a:solidFill>
          <a:ln w="7620">
            <a:solidFill>
              <a:srgbClr val="D9D2BF"/>
            </a:solidFill>
            <a:prstDash val="solid"/>
          </a:ln>
        </p:spPr>
      </p:sp>
      <p:sp>
        <p:nvSpPr>
          <p:cNvPr id="28" name="Text 26"/>
          <p:cNvSpPr/>
          <p:nvPr/>
        </p:nvSpPr>
        <p:spPr>
          <a:xfrm>
            <a:off x="8172569" y="8094345"/>
            <a:ext cx="282059" cy="269558"/>
          </a:xfrm>
          <a:prstGeom prst="rect">
            <a:avLst/>
          </a:prstGeom>
          <a:noFill/>
          <a:ln/>
        </p:spPr>
        <p:txBody>
          <a:bodyPr wrap="square" lIns="25400" tIns="25400" rIns="25400" bIns="25400" rtlCol="0" anchor="ctr">
            <a:normAutofit/>
          </a:bodyPr>
          <a:lstStyle/>
          <a:p>
            <a:pPr marL="0" indent="0" algn="l">
              <a:lnSpc>
                <a:spcPct val="135000"/>
              </a:lnSpc>
              <a:buNone/>
            </a:pPr>
            <a:r>
              <a:rPr lang="en-US" sz="1350" dirty="0">
                <a:solidFill>
                  <a:srgbClr val="3A3E48"/>
                </a:solidFill>
                <a:latin typeface="Courier New" pitchFamily="34" charset="0"/>
                <a:ea typeface="Courier New" pitchFamily="34" charset="-122"/>
                <a:cs typeface="Courier New" pitchFamily="34" charset="-120"/>
              </a:rPr>
              <a:t>db</a:t>
            </a:r>
            <a:endParaRPr lang="en-US" sz="1350" dirty="0"/>
          </a:p>
        </p:txBody>
      </p:sp>
      <p:sp>
        <p:nvSpPr>
          <p:cNvPr id="29" name="Shape 27"/>
          <p:cNvSpPr/>
          <p:nvPr/>
        </p:nvSpPr>
        <p:spPr>
          <a:xfrm>
            <a:off x="12020550" y="3342322"/>
            <a:ext cx="5219700" cy="5448300"/>
          </a:xfrm>
          <a:prstGeom prst="roundRect">
            <a:avLst>
              <a:gd name="adj" fmla="val 3285"/>
            </a:avLst>
          </a:prstGeom>
          <a:solidFill>
            <a:srgbClr val="ECE6D6"/>
          </a:solidFill>
          <a:ln/>
        </p:spPr>
      </p:sp>
      <p:sp>
        <p:nvSpPr>
          <p:cNvPr id="30" name="Text 28"/>
          <p:cNvSpPr/>
          <p:nvPr/>
        </p:nvSpPr>
        <p:spPr>
          <a:xfrm>
            <a:off x="12439650" y="3723322"/>
            <a:ext cx="4512945" cy="295275"/>
          </a:xfrm>
          <a:prstGeom prst="rect">
            <a:avLst/>
          </a:prstGeom>
          <a:noFill/>
          <a:ln/>
        </p:spPr>
        <p:txBody>
          <a:bodyPr wrap="square" lIns="25400" tIns="25400" rIns="25400" bIns="25400" rtlCol="0" anchor="t">
            <a:normAutofit/>
          </a:bodyPr>
          <a:lstStyle/>
          <a:p>
            <a:pPr marL="0" indent="0" algn="l">
              <a:lnSpc>
                <a:spcPct val="135000"/>
              </a:lnSpc>
              <a:buNone/>
            </a:pPr>
            <a:r>
              <a:rPr lang="en-US" sz="1500" kern="0" spc="120" dirty="0">
                <a:solidFill>
                  <a:srgbClr val="2A5FD9"/>
                </a:solidFill>
                <a:latin typeface="Courier New" pitchFamily="34" charset="0"/>
                <a:ea typeface="Courier New" pitchFamily="34" charset="-122"/>
                <a:cs typeface="Courier New" pitchFamily="34" charset="-120"/>
              </a:rPr>
              <a:t>PFA_INTERNAL_ML</a:t>
            </a:r>
            <a:endParaRPr lang="en-US" sz="1500" dirty="0"/>
          </a:p>
        </p:txBody>
      </p:sp>
      <p:sp>
        <p:nvSpPr>
          <p:cNvPr id="31" name="Text 29"/>
          <p:cNvSpPr/>
          <p:nvPr/>
        </p:nvSpPr>
        <p:spPr>
          <a:xfrm>
            <a:off x="12439650" y="4113847"/>
            <a:ext cx="4512945" cy="449580"/>
          </a:xfrm>
          <a:prstGeom prst="rect">
            <a:avLst/>
          </a:prstGeom>
          <a:noFill/>
          <a:ln/>
        </p:spPr>
        <p:txBody>
          <a:bodyPr wrap="square" lIns="25400" tIns="25400" rIns="25400" bIns="25400" rtlCol="0" anchor="t">
            <a:normAutofit/>
          </a:bodyPr>
          <a:lstStyle/>
          <a:p>
            <a:pPr marL="0" indent="0" algn="l">
              <a:lnSpc>
                <a:spcPct val="135000"/>
              </a:lnSpc>
              <a:buNone/>
            </a:pPr>
            <a:r>
              <a:rPr lang="en-US" sz="2400" b="1" kern="0" spc="-36" dirty="0">
                <a:solidFill>
                  <a:srgbClr val="1B1E25"/>
                </a:solidFill>
                <a:latin typeface="Arial" pitchFamily="34" charset="0"/>
                <a:ea typeface="Arial" pitchFamily="34" charset="-122"/>
                <a:cs typeface="Arial" pitchFamily="34" charset="-120"/>
              </a:rPr>
              <a:t>Plan service ML</a:t>
            </a:r>
            <a:endParaRPr lang="en-US" sz="2400" dirty="0"/>
          </a:p>
        </p:txBody>
      </p:sp>
      <p:sp>
        <p:nvSpPr>
          <p:cNvPr id="32" name="Text 30"/>
          <p:cNvSpPr/>
          <p:nvPr/>
        </p:nvSpPr>
        <p:spPr>
          <a:xfrm>
            <a:off x="12439650" y="4658678"/>
            <a:ext cx="4512945" cy="721995"/>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internal: true </a:t>
            </a:r>
            <a:r>
              <a:rPr lang="en-US" sz="1950" dirty="0">
                <a:solidFill>
                  <a:srgbClr val="3A3E48"/>
                </a:solidFill>
                <a:latin typeface="Arial" pitchFamily="34" charset="0"/>
                <a:ea typeface="Arial" pitchFamily="34" charset="-122"/>
                <a:cs typeface="Arial" pitchFamily="34" charset="-120"/>
              </a:rPr>
              <a:t>— le service ML est invisible depuis l'extérieur.</a:t>
            </a:r>
            <a:endParaRPr lang="en-US" sz="1950" dirty="0"/>
          </a:p>
        </p:txBody>
      </p:sp>
      <p:sp>
        <p:nvSpPr>
          <p:cNvPr id="33" name="Shape 31"/>
          <p:cNvSpPr/>
          <p:nvPr/>
        </p:nvSpPr>
        <p:spPr>
          <a:xfrm>
            <a:off x="12439650" y="7363778"/>
            <a:ext cx="4381500" cy="9525"/>
          </a:xfrm>
          <a:prstGeom prst="rect">
            <a:avLst/>
          </a:prstGeom>
          <a:solidFill>
            <a:srgbClr val="D9D2BF"/>
          </a:solidFill>
          <a:ln/>
        </p:spPr>
      </p:sp>
      <p:sp>
        <p:nvSpPr>
          <p:cNvPr id="34" name="Text 32"/>
          <p:cNvSpPr/>
          <p:nvPr/>
        </p:nvSpPr>
        <p:spPr>
          <a:xfrm>
            <a:off x="12439650" y="7561898"/>
            <a:ext cx="4512945"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Courier New" pitchFamily="34" charset="0"/>
                <a:ea typeface="Courier New" pitchFamily="34" charset="-122"/>
                <a:cs typeface="Courier New" pitchFamily="34" charset="-120"/>
              </a:rPr>
              <a:t>Membres</a:t>
            </a:r>
            <a:endParaRPr lang="en-US" sz="1950" dirty="0"/>
          </a:p>
        </p:txBody>
      </p:sp>
      <p:sp>
        <p:nvSpPr>
          <p:cNvPr id="35" name="Shape 33"/>
          <p:cNvSpPr/>
          <p:nvPr/>
        </p:nvSpPr>
        <p:spPr>
          <a:xfrm>
            <a:off x="12439650" y="8010525"/>
            <a:ext cx="1002149" cy="399098"/>
          </a:xfrm>
          <a:prstGeom prst="roundRect">
            <a:avLst>
              <a:gd name="adj" fmla="val 50000"/>
            </a:avLst>
          </a:prstGeom>
          <a:solidFill>
            <a:srgbClr val="F6F2E9"/>
          </a:solidFill>
          <a:ln w="7620">
            <a:solidFill>
              <a:srgbClr val="D9D2BF"/>
            </a:solidFill>
            <a:prstDash val="solid"/>
          </a:ln>
        </p:spPr>
      </p:sp>
      <p:sp>
        <p:nvSpPr>
          <p:cNvPr id="36" name="Text 34"/>
          <p:cNvSpPr/>
          <p:nvPr/>
        </p:nvSpPr>
        <p:spPr>
          <a:xfrm>
            <a:off x="12580620" y="8094345"/>
            <a:ext cx="796409" cy="269558"/>
          </a:xfrm>
          <a:prstGeom prst="rect">
            <a:avLst/>
          </a:prstGeom>
          <a:noFill/>
          <a:ln/>
        </p:spPr>
        <p:txBody>
          <a:bodyPr wrap="square" lIns="25400" tIns="25400" rIns="25400" bIns="25400" rtlCol="0" anchor="ctr">
            <a:normAutofit/>
          </a:bodyPr>
          <a:lstStyle/>
          <a:p>
            <a:pPr marL="0" indent="0" algn="l">
              <a:lnSpc>
                <a:spcPct val="135000"/>
              </a:lnSpc>
              <a:buNone/>
            </a:pPr>
            <a:r>
              <a:rPr lang="en-US" sz="1350" dirty="0">
                <a:solidFill>
                  <a:srgbClr val="3A3E48"/>
                </a:solidFill>
                <a:latin typeface="Courier New" pitchFamily="34" charset="0"/>
                <a:ea typeface="Courier New" pitchFamily="34" charset="-122"/>
                <a:cs typeface="Courier New" pitchFamily="34" charset="-120"/>
              </a:rPr>
              <a:t>backend</a:t>
            </a:r>
            <a:endParaRPr lang="en-US" sz="1350" dirty="0"/>
          </a:p>
        </p:txBody>
      </p:sp>
      <p:sp>
        <p:nvSpPr>
          <p:cNvPr id="37" name="Shape 35"/>
          <p:cNvSpPr/>
          <p:nvPr/>
        </p:nvSpPr>
        <p:spPr>
          <a:xfrm>
            <a:off x="13517999" y="8010525"/>
            <a:ext cx="1310878" cy="399098"/>
          </a:xfrm>
          <a:prstGeom prst="roundRect">
            <a:avLst>
              <a:gd name="adj" fmla="val 50000"/>
            </a:avLst>
          </a:prstGeom>
          <a:solidFill>
            <a:srgbClr val="F6F2E9"/>
          </a:solidFill>
          <a:ln w="7620">
            <a:solidFill>
              <a:srgbClr val="D9D2BF"/>
            </a:solidFill>
            <a:prstDash val="solid"/>
          </a:ln>
        </p:spPr>
      </p:sp>
      <p:sp>
        <p:nvSpPr>
          <p:cNvPr id="38" name="Text 36"/>
          <p:cNvSpPr/>
          <p:nvPr/>
        </p:nvSpPr>
        <p:spPr>
          <a:xfrm>
            <a:off x="13658969" y="8094345"/>
            <a:ext cx="1105138" cy="269558"/>
          </a:xfrm>
          <a:prstGeom prst="rect">
            <a:avLst/>
          </a:prstGeom>
          <a:noFill/>
          <a:ln/>
        </p:spPr>
        <p:txBody>
          <a:bodyPr wrap="square" lIns="25400" tIns="25400" rIns="25400" bIns="25400" rtlCol="0" anchor="ctr">
            <a:normAutofit/>
          </a:bodyPr>
          <a:lstStyle/>
          <a:p>
            <a:pPr marL="0" indent="0" algn="l">
              <a:lnSpc>
                <a:spcPct val="135000"/>
              </a:lnSpc>
              <a:buNone/>
            </a:pPr>
            <a:r>
              <a:rPr lang="en-US" sz="1350" dirty="0">
                <a:solidFill>
                  <a:srgbClr val="3A3E48"/>
                </a:solidFill>
                <a:latin typeface="Courier New" pitchFamily="34" charset="0"/>
                <a:ea typeface="Courier New" pitchFamily="34" charset="-122"/>
                <a:cs typeface="Courier New" pitchFamily="34" charset="-120"/>
              </a:rPr>
              <a:t>ml-service</a:t>
            </a:r>
            <a:endParaRPr lang="en-US" sz="1350" dirty="0"/>
          </a:p>
        </p:txBody>
      </p:sp>
      <p:sp>
        <p:nvSpPr>
          <p:cNvPr id="39" name="Text 37"/>
          <p:cNvSpPr/>
          <p:nvPr/>
        </p:nvSpPr>
        <p:spPr>
          <a:xfrm>
            <a:off x="1047750" y="9095423"/>
            <a:ext cx="16678275"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Courier New" pitchFamily="34" charset="0"/>
                <a:ea typeface="Courier New" pitchFamily="34" charset="-122"/>
                <a:cs typeface="Courier New" pitchFamily="34" charset="-120"/>
              </a:rPr>
              <a:t>Le backend est le seul service présent sur les trois réseaux — c'est le point de jonction.</a:t>
            </a:r>
            <a:endParaRPr lang="en-US" sz="1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1047750" y="419100"/>
            <a:ext cx="2051685"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17 — CYCLE COMPLET</a:t>
            </a:r>
            <a:endParaRPr lang="en-US" sz="1350" dirty="0"/>
          </a:p>
        </p:txBody>
      </p:sp>
      <p:sp>
        <p:nvSpPr>
          <p:cNvPr id="3" name="Shape 1"/>
          <p:cNvSpPr/>
          <p:nvPr/>
        </p:nvSpPr>
        <p:spPr>
          <a:xfrm>
            <a:off x="16224290" y="496729"/>
            <a:ext cx="76200" cy="76200"/>
          </a:xfrm>
          <a:prstGeom prst="ellipse">
            <a:avLst/>
          </a:prstGeom>
          <a:solidFill>
            <a:srgbClr val="2A5FD9"/>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6E7280"/>
                </a:solidFill>
                <a:latin typeface="Courier New" pitchFamily="34" charset="0"/>
                <a:ea typeface="Courier New" pitchFamily="34" charset="-122"/>
                <a:cs typeface="Courier New" pitchFamily="34" charset="-120"/>
              </a:rPr>
              <a:t>17 / 18</a:t>
            </a:r>
            <a:endParaRPr lang="en-US" sz="1350" dirty="0"/>
          </a:p>
        </p:txBody>
      </p:sp>
      <p:sp>
        <p:nvSpPr>
          <p:cNvPr id="5" name="Text 3"/>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MISE BOUT-À-BOUT</a:t>
            </a:r>
            <a:endParaRPr lang="en-US" sz="1650" dirty="0"/>
          </a:p>
        </p:txBody>
      </p:sp>
      <p:sp>
        <p:nvSpPr>
          <p:cNvPr id="6" name="Text 4"/>
          <p:cNvSpPr/>
          <p:nvPr/>
        </p:nvSpPr>
        <p:spPr>
          <a:xfrm>
            <a:off x="1047750" y="1368742"/>
            <a:ext cx="16678275" cy="147828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1B1E25"/>
                </a:solidFill>
                <a:latin typeface="Arial" pitchFamily="34" charset="0"/>
                <a:ea typeface="Arial" pitchFamily="34" charset="-122"/>
                <a:cs typeface="Arial" pitchFamily="34" charset="-120"/>
              </a:rPr>
              <a:t>Du commit au déploiement — un seul flux, cinq minutes.</a:t>
            </a:r>
            <a:endParaRPr lang="en-US" sz="5400" dirty="0"/>
          </a:p>
        </p:txBody>
      </p:sp>
      <p:pic>
        <p:nvPicPr>
          <p:cNvPr id="7" name="Image 0" descr="preencoded.png"/>
          <p:cNvPicPr>
            <a:picLocks noChangeAspect="1"/>
          </p:cNvPicPr>
          <p:nvPr/>
        </p:nvPicPr>
        <p:blipFill>
          <a:blip r:embed="rId3"/>
          <a:stretch>
            <a:fillRect/>
          </a:stretch>
        </p:blipFill>
        <p:spPr>
          <a:xfrm>
            <a:off x="1047750" y="4275772"/>
            <a:ext cx="16192500" cy="3238500"/>
          </a:xfrm>
          <a:prstGeom prst="rect">
            <a:avLst/>
          </a:prstGeom>
        </p:spPr>
      </p:pic>
      <p:sp>
        <p:nvSpPr>
          <p:cNvPr id="8" name="Shape 5"/>
          <p:cNvSpPr/>
          <p:nvPr/>
        </p:nvSpPr>
        <p:spPr>
          <a:xfrm>
            <a:off x="1047750" y="8638223"/>
            <a:ext cx="16192500" cy="791527"/>
          </a:xfrm>
          <a:prstGeom prst="roundRect">
            <a:avLst>
              <a:gd name="adj" fmla="val 21661"/>
            </a:avLst>
          </a:prstGeom>
          <a:solidFill>
            <a:srgbClr val="ECE6D6"/>
          </a:solidFill>
          <a:ln/>
        </p:spPr>
      </p:sp>
      <p:sp>
        <p:nvSpPr>
          <p:cNvPr id="9" name="Text 6"/>
          <p:cNvSpPr/>
          <p:nvPr/>
        </p:nvSpPr>
        <p:spPr>
          <a:xfrm>
            <a:off x="1390650" y="8866823"/>
            <a:ext cx="4745337"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CE QUI SE PASSE EN UNE COMMANDE</a:t>
            </a:r>
            <a:endParaRPr lang="en-US" sz="1950" dirty="0"/>
          </a:p>
        </p:txBody>
      </p:sp>
      <p:sp>
        <p:nvSpPr>
          <p:cNvPr id="10" name="Text 7"/>
          <p:cNvSpPr/>
          <p:nvPr/>
        </p:nvSpPr>
        <p:spPr>
          <a:xfrm>
            <a:off x="6378773" y="8892540"/>
            <a:ext cx="43597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dirty="0">
                <a:solidFill>
                  <a:srgbClr val="1B1E25"/>
                </a:solidFill>
                <a:latin typeface="Courier New" pitchFamily="34" charset="0"/>
                <a:ea typeface="Courier New" pitchFamily="34" charset="-122"/>
                <a:cs typeface="Courier New" pitchFamily="34" charset="-120"/>
              </a:rPr>
              <a:t>$ docker compose up --build</a:t>
            </a:r>
            <a:endParaRPr lang="en-US" sz="1650" dirty="0"/>
          </a:p>
        </p:txBody>
      </p:sp>
      <p:sp>
        <p:nvSpPr>
          <p:cNvPr id="11" name="Text 8"/>
          <p:cNvSpPr/>
          <p:nvPr/>
        </p:nvSpPr>
        <p:spPr>
          <a:xfrm>
            <a:off x="10992565" y="8866823"/>
            <a:ext cx="6081929"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E7280"/>
                </a:solidFill>
                <a:latin typeface="Arial" pitchFamily="34" charset="0"/>
                <a:ea typeface="Arial" pitchFamily="34" charset="-122"/>
                <a:cs typeface="Arial" pitchFamily="34" charset="-120"/>
              </a:rPr>
              <a:t>5 services · 3 réseaux · 2 volumes · 0 install manuelle</a:t>
            </a:r>
            <a:endParaRPr lang="en-US" sz="1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217"/>
        </a:solidFill>
        <a:effectLst/>
      </p:bgPr>
    </p:bg>
    <p:spTree>
      <p:nvGrpSpPr>
        <p:cNvPr id="1" name=""/>
        <p:cNvGrpSpPr/>
        <p:nvPr/>
      </p:nvGrpSpPr>
      <p:grpSpPr>
        <a:xfrm>
          <a:off x="0" y="0"/>
          <a:ext cx="0" cy="0"/>
          <a:chOff x="0" y="0"/>
          <a:chExt cx="0" cy="0"/>
        </a:xfrm>
      </p:grpSpPr>
      <p:sp>
        <p:nvSpPr>
          <p:cNvPr id="2" name="Text 0"/>
          <p:cNvSpPr/>
          <p:nvPr/>
        </p:nvSpPr>
        <p:spPr>
          <a:xfrm>
            <a:off x="1047750" y="419100"/>
            <a:ext cx="1173718"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9AA0AB"/>
                </a:solidFill>
                <a:latin typeface="Courier New" pitchFamily="34" charset="0"/>
                <a:ea typeface="Courier New" pitchFamily="34" charset="-122"/>
                <a:cs typeface="Courier New" pitchFamily="34" charset="-120"/>
              </a:rPr>
              <a:t>18 — BILAN</a:t>
            </a:r>
            <a:endParaRPr lang="en-US" sz="1350" dirty="0"/>
          </a:p>
        </p:txBody>
      </p:sp>
      <p:sp>
        <p:nvSpPr>
          <p:cNvPr id="3" name="Shape 1"/>
          <p:cNvSpPr/>
          <p:nvPr/>
        </p:nvSpPr>
        <p:spPr>
          <a:xfrm>
            <a:off x="16224290" y="496729"/>
            <a:ext cx="76200" cy="76200"/>
          </a:xfrm>
          <a:prstGeom prst="ellipse">
            <a:avLst/>
          </a:prstGeom>
          <a:solidFill>
            <a:srgbClr val="F1EDE2"/>
          </a:solidFill>
          <a:ln/>
        </p:spPr>
      </p:sp>
      <p:sp>
        <p:nvSpPr>
          <p:cNvPr id="4" name="Text 2"/>
          <p:cNvSpPr/>
          <p:nvPr/>
        </p:nvSpPr>
        <p:spPr>
          <a:xfrm>
            <a:off x="16471940" y="419100"/>
            <a:ext cx="844510" cy="269558"/>
          </a:xfrm>
          <a:prstGeom prst="rect">
            <a:avLst/>
          </a:prstGeom>
          <a:noFill/>
          <a:ln/>
        </p:spPr>
        <p:txBody>
          <a:bodyPr wrap="square" lIns="25400" tIns="25400" rIns="25400" bIns="25400" rtlCol="0" anchor="t">
            <a:normAutofit/>
          </a:bodyPr>
          <a:lstStyle/>
          <a:p>
            <a:pPr marL="0" indent="0" algn="l">
              <a:lnSpc>
                <a:spcPct val="135000"/>
              </a:lnSpc>
              <a:buNone/>
            </a:pPr>
            <a:r>
              <a:rPr lang="en-US" sz="1350" kern="0" spc="54" dirty="0">
                <a:solidFill>
                  <a:srgbClr val="9AA0AB"/>
                </a:solidFill>
                <a:latin typeface="Courier New" pitchFamily="34" charset="0"/>
                <a:ea typeface="Courier New" pitchFamily="34" charset="-122"/>
                <a:cs typeface="Courier New" pitchFamily="34" charset="-120"/>
              </a:rPr>
              <a:t>18 / 18</a:t>
            </a:r>
            <a:endParaRPr lang="en-US" sz="1350" dirty="0"/>
          </a:p>
        </p:txBody>
      </p:sp>
      <p:sp>
        <p:nvSpPr>
          <p:cNvPr id="5" name="Text 3"/>
          <p:cNvSpPr/>
          <p:nvPr/>
        </p:nvSpPr>
        <p:spPr>
          <a:xfrm>
            <a:off x="1047750" y="914400"/>
            <a:ext cx="16678275" cy="320993"/>
          </a:xfrm>
          <a:prstGeom prst="rect">
            <a:avLst/>
          </a:prstGeom>
          <a:noFill/>
          <a:ln/>
        </p:spPr>
        <p:txBody>
          <a:bodyPr wrap="square" lIns="25400" tIns="25400" rIns="25400" bIns="25400" rtlCol="0" anchor="t">
            <a:normAutofit/>
          </a:bodyPr>
          <a:lstStyle/>
          <a:p>
            <a:pPr marL="0" indent="0" algn="l">
              <a:lnSpc>
                <a:spcPct val="135000"/>
              </a:lnSpc>
              <a:buNone/>
            </a:pPr>
            <a:r>
              <a:rPr lang="en-US" sz="1650" kern="0" spc="198" dirty="0">
                <a:solidFill>
                  <a:srgbClr val="2A5FD9"/>
                </a:solidFill>
                <a:latin typeface="Courier New" pitchFamily="34" charset="0"/>
                <a:ea typeface="Courier New" pitchFamily="34" charset="-122"/>
                <a:cs typeface="Courier New" pitchFamily="34" charset="-120"/>
              </a:rPr>
              <a:t>CE QU'ON RETIENT</a:t>
            </a:r>
            <a:endParaRPr lang="en-US" sz="1650" dirty="0"/>
          </a:p>
        </p:txBody>
      </p:sp>
      <p:sp>
        <p:nvSpPr>
          <p:cNvPr id="6" name="Text 4"/>
          <p:cNvSpPr/>
          <p:nvPr/>
        </p:nvSpPr>
        <p:spPr>
          <a:xfrm>
            <a:off x="1047750" y="1368742"/>
            <a:ext cx="16678275" cy="219837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F1EDE2"/>
                </a:solidFill>
                <a:latin typeface="Arial" pitchFamily="34" charset="0"/>
                <a:ea typeface="Arial" pitchFamily="34" charset="-122"/>
                <a:cs typeface="Arial" pitchFamily="34" charset="-120"/>
              </a:rPr>
              <a:t>Quatre briques DevOps — et un projet à 5 services devient simple à faire tourner.</a:t>
            </a:r>
            <a:endParaRPr lang="en-US" sz="5400" dirty="0"/>
          </a:p>
        </p:txBody>
      </p:sp>
      <p:sp>
        <p:nvSpPr>
          <p:cNvPr id="7" name="Shape 5"/>
          <p:cNvSpPr/>
          <p:nvPr/>
        </p:nvSpPr>
        <p:spPr>
          <a:xfrm>
            <a:off x="1047750" y="4348163"/>
            <a:ext cx="3848100" cy="3493651"/>
          </a:xfrm>
          <a:prstGeom prst="roundRect">
            <a:avLst>
              <a:gd name="adj" fmla="val 4907"/>
            </a:avLst>
          </a:prstGeom>
          <a:solidFill>
            <a:srgbClr val="1A1E26"/>
          </a:solidFill>
          <a:ln/>
        </p:spPr>
      </p:sp>
      <p:sp>
        <p:nvSpPr>
          <p:cNvPr id="8" name="Text 6"/>
          <p:cNvSpPr/>
          <p:nvPr/>
        </p:nvSpPr>
        <p:spPr>
          <a:xfrm>
            <a:off x="1466850" y="4729163"/>
            <a:ext cx="3100197"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GITHUB</a:t>
            </a:r>
            <a:endParaRPr lang="en-US" sz="1950" dirty="0"/>
          </a:p>
        </p:txBody>
      </p:sp>
      <p:sp>
        <p:nvSpPr>
          <p:cNvPr id="9" name="Text 7"/>
          <p:cNvSpPr/>
          <p:nvPr/>
        </p:nvSpPr>
        <p:spPr>
          <a:xfrm>
            <a:off x="1466850" y="5196840"/>
            <a:ext cx="3100197" cy="1066800"/>
          </a:xfrm>
          <a:prstGeom prst="rect">
            <a:avLst/>
          </a:prstGeom>
          <a:noFill/>
          <a:ln/>
        </p:spPr>
        <p:txBody>
          <a:bodyPr wrap="square" lIns="25400" tIns="25400" rIns="25400" bIns="25400" rtlCol="0" anchor="t">
            <a:normAutofit/>
          </a:bodyPr>
          <a:lstStyle/>
          <a:p>
            <a:pPr marL="0" indent="0" algn="l">
              <a:lnSpc>
                <a:spcPct val="120000"/>
              </a:lnSpc>
              <a:buNone/>
            </a:pPr>
            <a:r>
              <a:rPr lang="en-US" sz="2250" b="1" dirty="0">
                <a:solidFill>
                  <a:srgbClr val="F1EDE2"/>
                </a:solidFill>
                <a:latin typeface="Arial" pitchFamily="34" charset="0"/>
                <a:ea typeface="Arial" pitchFamily="34" charset="-122"/>
                <a:cs typeface="Arial" pitchFamily="34" charset="-120"/>
              </a:rPr>
              <a:t>Un historique partagé, des PR, du CI gratuit.</a:t>
            </a:r>
            <a:endParaRPr lang="en-US" sz="2250" dirty="0"/>
          </a:p>
        </p:txBody>
      </p:sp>
      <p:sp>
        <p:nvSpPr>
          <p:cNvPr id="10" name="Shape 8"/>
          <p:cNvSpPr/>
          <p:nvPr/>
        </p:nvSpPr>
        <p:spPr>
          <a:xfrm>
            <a:off x="5162550" y="4348163"/>
            <a:ext cx="3848100" cy="3493651"/>
          </a:xfrm>
          <a:prstGeom prst="roundRect">
            <a:avLst>
              <a:gd name="adj" fmla="val 4907"/>
            </a:avLst>
          </a:prstGeom>
          <a:solidFill>
            <a:srgbClr val="1A1E26"/>
          </a:solidFill>
          <a:ln/>
        </p:spPr>
      </p:sp>
      <p:sp>
        <p:nvSpPr>
          <p:cNvPr id="11" name="Text 9"/>
          <p:cNvSpPr/>
          <p:nvPr/>
        </p:nvSpPr>
        <p:spPr>
          <a:xfrm>
            <a:off x="5581650" y="4729163"/>
            <a:ext cx="3100197"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IMAGES</a:t>
            </a:r>
            <a:endParaRPr lang="en-US" sz="1950" dirty="0"/>
          </a:p>
        </p:txBody>
      </p:sp>
      <p:sp>
        <p:nvSpPr>
          <p:cNvPr id="12" name="Text 10"/>
          <p:cNvSpPr/>
          <p:nvPr/>
        </p:nvSpPr>
        <p:spPr>
          <a:xfrm>
            <a:off x="5581650" y="5196840"/>
            <a:ext cx="3100197" cy="1066800"/>
          </a:xfrm>
          <a:prstGeom prst="rect">
            <a:avLst/>
          </a:prstGeom>
          <a:noFill/>
          <a:ln/>
        </p:spPr>
        <p:txBody>
          <a:bodyPr wrap="square" lIns="25400" tIns="25400" rIns="25400" bIns="25400" rtlCol="0" anchor="t">
            <a:normAutofit/>
          </a:bodyPr>
          <a:lstStyle/>
          <a:p>
            <a:pPr marL="0" indent="0" algn="l">
              <a:lnSpc>
                <a:spcPct val="120000"/>
              </a:lnSpc>
              <a:buNone/>
            </a:pPr>
            <a:r>
              <a:rPr lang="en-US" sz="2250" b="1" dirty="0">
                <a:solidFill>
                  <a:srgbClr val="F1EDE2"/>
                </a:solidFill>
                <a:latin typeface="Arial" pitchFamily="34" charset="0"/>
                <a:ea typeface="Arial" pitchFamily="34" charset="-122"/>
                <a:cs typeface="Arial" pitchFamily="34" charset="-120"/>
              </a:rPr>
              <a:t>L'environnement devient du texte versionné.</a:t>
            </a:r>
            <a:endParaRPr lang="en-US" sz="2250" dirty="0"/>
          </a:p>
        </p:txBody>
      </p:sp>
      <p:sp>
        <p:nvSpPr>
          <p:cNvPr id="13" name="Shape 11"/>
          <p:cNvSpPr/>
          <p:nvPr/>
        </p:nvSpPr>
        <p:spPr>
          <a:xfrm>
            <a:off x="9277350" y="4348163"/>
            <a:ext cx="3848100" cy="3493651"/>
          </a:xfrm>
          <a:prstGeom prst="roundRect">
            <a:avLst>
              <a:gd name="adj" fmla="val 4907"/>
            </a:avLst>
          </a:prstGeom>
          <a:solidFill>
            <a:srgbClr val="1A1E26"/>
          </a:solidFill>
          <a:ln/>
        </p:spPr>
      </p:sp>
      <p:sp>
        <p:nvSpPr>
          <p:cNvPr id="14" name="Text 12"/>
          <p:cNvSpPr/>
          <p:nvPr/>
        </p:nvSpPr>
        <p:spPr>
          <a:xfrm>
            <a:off x="9696450" y="4729163"/>
            <a:ext cx="3100197"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VOLUMES</a:t>
            </a:r>
            <a:endParaRPr lang="en-US" sz="1950" dirty="0"/>
          </a:p>
        </p:txBody>
      </p:sp>
      <p:sp>
        <p:nvSpPr>
          <p:cNvPr id="15" name="Text 13"/>
          <p:cNvSpPr/>
          <p:nvPr/>
        </p:nvSpPr>
        <p:spPr>
          <a:xfrm>
            <a:off x="9696450" y="5196840"/>
            <a:ext cx="3100197" cy="1066800"/>
          </a:xfrm>
          <a:prstGeom prst="rect">
            <a:avLst/>
          </a:prstGeom>
          <a:noFill/>
          <a:ln/>
        </p:spPr>
        <p:txBody>
          <a:bodyPr wrap="square" lIns="25400" tIns="25400" rIns="25400" bIns="25400" rtlCol="0" anchor="t">
            <a:normAutofit/>
          </a:bodyPr>
          <a:lstStyle/>
          <a:p>
            <a:pPr marL="0" indent="0" algn="l">
              <a:lnSpc>
                <a:spcPct val="120000"/>
              </a:lnSpc>
              <a:buNone/>
            </a:pPr>
            <a:r>
              <a:rPr lang="en-US" sz="2250" b="1" dirty="0">
                <a:solidFill>
                  <a:srgbClr val="F1EDE2"/>
                </a:solidFill>
                <a:latin typeface="Arial" pitchFamily="34" charset="0"/>
                <a:ea typeface="Arial" pitchFamily="34" charset="-122"/>
                <a:cs typeface="Arial" pitchFamily="34" charset="-120"/>
              </a:rPr>
              <a:t>Les données ne meurent pas avec le conteneur.</a:t>
            </a:r>
            <a:endParaRPr lang="en-US" sz="2250" dirty="0"/>
          </a:p>
        </p:txBody>
      </p:sp>
      <p:sp>
        <p:nvSpPr>
          <p:cNvPr id="16" name="Shape 14"/>
          <p:cNvSpPr/>
          <p:nvPr/>
        </p:nvSpPr>
        <p:spPr>
          <a:xfrm>
            <a:off x="13392150" y="4348163"/>
            <a:ext cx="3848100" cy="3493651"/>
          </a:xfrm>
          <a:prstGeom prst="roundRect">
            <a:avLst>
              <a:gd name="adj" fmla="val 4907"/>
            </a:avLst>
          </a:prstGeom>
          <a:solidFill>
            <a:srgbClr val="1A1E26"/>
          </a:solidFill>
          <a:ln/>
        </p:spPr>
      </p:sp>
      <p:sp>
        <p:nvSpPr>
          <p:cNvPr id="17" name="Text 15"/>
          <p:cNvSpPr/>
          <p:nvPr/>
        </p:nvSpPr>
        <p:spPr>
          <a:xfrm>
            <a:off x="13811250" y="4729163"/>
            <a:ext cx="3100197" cy="372428"/>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2A5FD9"/>
                </a:solidFill>
                <a:latin typeface="Courier New" pitchFamily="34" charset="0"/>
                <a:ea typeface="Courier New" pitchFamily="34" charset="-122"/>
                <a:cs typeface="Courier New" pitchFamily="34" charset="-120"/>
              </a:rPr>
              <a:t>NETWORKS</a:t>
            </a:r>
            <a:endParaRPr lang="en-US" sz="1950" dirty="0"/>
          </a:p>
        </p:txBody>
      </p:sp>
      <p:sp>
        <p:nvSpPr>
          <p:cNvPr id="18" name="Text 16"/>
          <p:cNvSpPr/>
          <p:nvPr/>
        </p:nvSpPr>
        <p:spPr>
          <a:xfrm>
            <a:off x="13811250" y="5196840"/>
            <a:ext cx="3100197" cy="1066800"/>
          </a:xfrm>
          <a:prstGeom prst="rect">
            <a:avLst/>
          </a:prstGeom>
          <a:noFill/>
          <a:ln/>
        </p:spPr>
        <p:txBody>
          <a:bodyPr wrap="square" lIns="25400" tIns="25400" rIns="25400" bIns="25400" rtlCol="0" anchor="t">
            <a:normAutofit/>
          </a:bodyPr>
          <a:lstStyle/>
          <a:p>
            <a:pPr marL="0" indent="0" algn="l">
              <a:lnSpc>
                <a:spcPct val="120000"/>
              </a:lnSpc>
              <a:buNone/>
            </a:pPr>
            <a:r>
              <a:rPr lang="en-US" sz="2250" b="1" dirty="0">
                <a:solidFill>
                  <a:srgbClr val="F1EDE2"/>
                </a:solidFill>
                <a:latin typeface="Arial" pitchFamily="34" charset="0"/>
                <a:ea typeface="Arial" pitchFamily="34" charset="-122"/>
                <a:cs typeface="Arial" pitchFamily="34" charset="-120"/>
              </a:rPr>
              <a:t>Les services sensibles deviennent invisibles.</a:t>
            </a:r>
            <a:endParaRPr lang="en-US" sz="2250" dirty="0"/>
          </a:p>
        </p:txBody>
      </p:sp>
      <p:sp>
        <p:nvSpPr>
          <p:cNvPr id="19" name="Text 17"/>
          <p:cNvSpPr/>
          <p:nvPr/>
        </p:nvSpPr>
        <p:spPr>
          <a:xfrm>
            <a:off x="1047750" y="7841814"/>
            <a:ext cx="2581870" cy="970717"/>
          </a:xfrm>
          <a:prstGeom prst="rect">
            <a:avLst/>
          </a:prstGeom>
          <a:noFill/>
          <a:ln/>
        </p:spPr>
        <p:txBody>
          <a:bodyPr wrap="square" lIns="25400" tIns="25400" rIns="25400" bIns="25400" rtlCol="0" anchor="t">
            <a:normAutofit/>
          </a:bodyPr>
          <a:lstStyle/>
          <a:p>
            <a:pPr marL="0" indent="0" algn="l">
              <a:lnSpc>
                <a:spcPct val="102000"/>
              </a:lnSpc>
              <a:buNone/>
            </a:pPr>
            <a:r>
              <a:rPr lang="en-US" sz="7200" b="1" kern="0" spc="-180" dirty="0">
                <a:solidFill>
                  <a:srgbClr val="F1EDE2"/>
                </a:solidFill>
                <a:latin typeface="Arial" pitchFamily="34" charset="0"/>
                <a:ea typeface="Arial" pitchFamily="34" charset="-122"/>
                <a:cs typeface="Arial" pitchFamily="34" charset="-120"/>
              </a:rPr>
              <a:t>Merci.</a:t>
            </a:r>
            <a:endParaRPr lang="en-US" sz="7200" dirty="0"/>
          </a:p>
        </p:txBody>
      </p:sp>
      <p:sp>
        <p:nvSpPr>
          <p:cNvPr id="20" name="Text 18"/>
          <p:cNvSpPr/>
          <p:nvPr/>
        </p:nvSpPr>
        <p:spPr>
          <a:xfrm>
            <a:off x="1047750" y="8926830"/>
            <a:ext cx="2581870" cy="541020"/>
          </a:xfrm>
          <a:prstGeom prst="rect">
            <a:avLst/>
          </a:prstGeom>
          <a:noFill/>
          <a:ln/>
        </p:spPr>
        <p:txBody>
          <a:bodyPr wrap="square" lIns="25400" tIns="25400" rIns="25400" bIns="25400" rtlCol="0" anchor="t">
            <a:normAutofit/>
          </a:bodyPr>
          <a:lstStyle/>
          <a:p>
            <a:pPr marL="0" indent="0" algn="l">
              <a:lnSpc>
                <a:spcPct val="120000"/>
              </a:lnSpc>
              <a:buNone/>
            </a:pPr>
            <a:r>
              <a:rPr lang="en-US" sz="3300" kern="0" spc="-33" dirty="0">
                <a:solidFill>
                  <a:srgbClr val="9AA0AB"/>
                </a:solidFill>
                <a:latin typeface="Arial" pitchFamily="34" charset="0"/>
                <a:ea typeface="Arial" pitchFamily="34" charset="-122"/>
                <a:cs typeface="Arial" pitchFamily="34" charset="-120"/>
              </a:rPr>
              <a:t>Questions ?</a:t>
            </a:r>
            <a:endParaRPr lang="en-US" sz="3300" dirty="0"/>
          </a:p>
        </p:txBody>
      </p:sp>
      <p:sp>
        <p:nvSpPr>
          <p:cNvPr id="21" name="Text 19"/>
          <p:cNvSpPr/>
          <p:nvPr/>
        </p:nvSpPr>
        <p:spPr>
          <a:xfrm>
            <a:off x="9986918" y="8717280"/>
            <a:ext cx="7253333" cy="394335"/>
          </a:xfrm>
          <a:prstGeom prst="rect">
            <a:avLst/>
          </a:prstGeom>
          <a:noFill/>
          <a:ln/>
        </p:spPr>
        <p:txBody>
          <a:bodyPr wrap="square" lIns="25400" tIns="25400" rIns="25400" bIns="25400" rtlCol="0" anchor="t">
            <a:normAutofit/>
          </a:bodyPr>
          <a:lstStyle/>
          <a:p>
            <a:pPr marL="0" indent="0" algn="r">
              <a:lnSpc>
                <a:spcPct val="170000"/>
              </a:lnSpc>
              <a:buNone/>
            </a:pPr>
            <a:r>
              <a:rPr lang="en-US" sz="1650" dirty="0">
                <a:solidFill>
                  <a:srgbClr val="9AA0AB"/>
                </a:solidFill>
                <a:latin typeface="Courier New" pitchFamily="34" charset="0"/>
                <a:ea typeface="Courier New" pitchFamily="34" charset="-122"/>
                <a:cs typeface="Courier New" pitchFamily="34" charset="-120"/>
              </a:rPr>
              <a:t>github.com / anouaramghar / plateforme-decisionnelle-pfa</a:t>
            </a:r>
            <a:endParaRPr lang="en-US" sz="1650" dirty="0"/>
          </a:p>
        </p:txBody>
      </p:sp>
      <p:sp>
        <p:nvSpPr>
          <p:cNvPr id="22" name="Text 20"/>
          <p:cNvSpPr/>
          <p:nvPr/>
        </p:nvSpPr>
        <p:spPr>
          <a:xfrm>
            <a:off x="9986918" y="9073515"/>
            <a:ext cx="7253333" cy="394335"/>
          </a:xfrm>
          <a:prstGeom prst="rect">
            <a:avLst/>
          </a:prstGeom>
          <a:noFill/>
          <a:ln/>
        </p:spPr>
        <p:txBody>
          <a:bodyPr wrap="square" lIns="25400" tIns="25400" rIns="25400" bIns="25400" rtlCol="0" anchor="t">
            <a:normAutofit/>
          </a:bodyPr>
          <a:lstStyle/>
          <a:p>
            <a:pPr marL="0" indent="0" algn="r">
              <a:lnSpc>
                <a:spcPct val="170000"/>
              </a:lnSpc>
              <a:buNone/>
            </a:pPr>
            <a:r>
              <a:rPr lang="en-US" sz="1650" dirty="0">
                <a:solidFill>
                  <a:srgbClr val="9AA0AB"/>
                </a:solidFill>
                <a:latin typeface="Courier New" pitchFamily="34" charset="0"/>
                <a:ea typeface="Courier New" pitchFamily="34" charset="-122"/>
                <a:cs typeface="Courier New" pitchFamily="34" charset="-120"/>
              </a:rPr>
              <a:t>ENIAD · 2025—2026</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2557</Words>
  <Application>Microsoft Office PowerPoint</Application>
  <PresentationFormat>Personnalisé</PresentationFormat>
  <Paragraphs>245</Paragraphs>
  <Slides>18</Slides>
  <Notes>18</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18</vt:i4>
      </vt:variant>
    </vt:vector>
  </HeadingPairs>
  <TitlesOfParts>
    <vt:vector size="21" baseType="lpstr">
      <vt:lpstr>Arial</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Marouane AIT ALI</cp:lastModifiedBy>
  <cp:revision>2</cp:revision>
  <dcterms:created xsi:type="dcterms:W3CDTF">2026-05-11T20:11:07Z</dcterms:created>
  <dcterms:modified xsi:type="dcterms:W3CDTF">2026-05-11T20:46:38Z</dcterms:modified>
</cp:coreProperties>
</file>